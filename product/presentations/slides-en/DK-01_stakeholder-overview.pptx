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725"/>
  </p:normalViewPr>
  <p:slideViewPr>
    <p:cSldViewPr snapToGrid="0" snapToObjects="1">
      <p:cViewPr varScale="1">
        <p:scale>
          <a:sx n="96" d="100"/>
          <a:sy n="96" d="100"/>
        </p:scale>
        <p:origin x="1184" y="4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טל אפשטיין" userId="efc8e0c6-5f92-43c3-b98f-620443f766d0" providerId="ADAL" clId="{476D5526-E937-5F25-A689-5ED73297CDD7}"/>
    <pc:docChg chg="mod modMainMaster">
      <pc:chgData name="טל אפשטיין" userId="efc8e0c6-5f92-43c3-b98f-620443f766d0" providerId="ADAL" clId="{476D5526-E937-5F25-A689-5ED73297CDD7}" dt="2026-03-19T19:03:46.272" v="1" actId="33475"/>
      <pc:docMkLst>
        <pc:docMk/>
      </pc:docMkLst>
      <pc:sldMasterChg chg="addSp mod">
        <pc:chgData name="טל אפשטיין" userId="efc8e0c6-5f92-43c3-b98f-620443f766d0" providerId="ADAL" clId="{476D5526-E937-5F25-A689-5ED73297CDD7}" dt="2026-03-19T19:03:46.270" v="0" actId="33475"/>
        <pc:sldMasterMkLst>
          <pc:docMk/>
          <pc:sldMasterMk cId="2209977519" sldId="2147483648"/>
        </pc:sldMasterMkLst>
        <pc:spChg chg="add">
          <ac:chgData name="טל אפשטיין" userId="efc8e0c6-5f92-43c3-b98f-620443f766d0" providerId="ADAL" clId="{476D5526-E937-5F25-A689-5ED73297CDD7}" dt="2026-03-19T19:03:46.270" v="0" actId="33475"/>
          <ac:spMkLst>
            <pc:docMk/>
            <pc:sldMasterMk cId="2209977519" sldId="2147483648"/>
            <ac:spMk id="8" creationId="{F6BB09D7-75AD-8BCD-05B2-7740B4FAE8D8}"/>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036872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deck introduces TactiTok to evaluators and sponsors. It covers the problem, the product vision, the three core flows, the system at a high level, the MVP demo walkthrough, and what success looks like. Estimated time: 12–15 minutes plus hands-on. The system behind this presentation is the actual MVP — not a mockup.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problems compound each other. Content doesn't reach the field in time. When it does, there's no good way to consume it. And because there's no habitual mechanism, even available content doesn't get used. TactiTok was designed to address all four simultaneously.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one-liner captures the entire product: exploit the downtime that already exists and make training feel like a normal phone habit. The TikTok framing is intentional — it validates a consumption pattern that already works at scale. The key word is 'even under non-ideal connectivity' — that's the hard part, and it's solved.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user types never interact directly. The fighter never sees the admin portal. The HQ staff never uses the tablet. The system is the bridge between them. Critically: there is no user login for the fighter — the device acts as the identity. This simplifies the MVP significantly.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topology is unusual but important. Chrome on Windows connects to localhost. Inside a Linux VM running on the same machine, a Docker container runs nginx. That nginx proxies all requests to the cloud and caches responses locally. This is how offline works — no Service Worker complexity needed.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Flow A is the core retention mechanic — the TikTok habit. Flow B serves specific operational questions. Flow C is the supply chain — how content gets from HQ to the field. All three flows are demonstrated in the 15-step demo on slide 9.</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insight is the edge proxy. Everything Chrome requests goes to localhost — to a Docker container running nginx on the same machine. That nginx is what talks to the cloud, and it caches everything it fetches. When the network drops, nginx just serves from its cache. The SPA doesn't even know the difference.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offline architecture is the technically interesting part. Instead of Service Workers and Cache API — which are browser-side and complex — we put a caching nginx proxy at the network layer. Everything Chrome ever requested is cached. When the network drops, nginx just serves from its cache. The SPA doesn't even know the difference.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15-step sequence is the complete demo script. It proves all three core flows and the offline capability end to end. After this slide, evaluators will have the opportunity to try it themselves. Estimated time for the demo: 8-10 minutes. The setup steps (1-3) should be done before the session begins.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slide on screen during the hands-on session. Guide each evaluator through at least one reels scroll, one library search, and one offline test. The tablet is running the actual system — not a mockup or simulator.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criteria come directly from the product brief. S1 is the most important — if the end-to-end flow works, everything else is refinement. S3 and S6 are the technically hard ones: fast video start under limited bandwidth, and fully offline playback. If all 7 criteria pass, the MVP is accepted for continuation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MVP is not a throwaway prototype. Every architectural choice was made to minimize rewrites when the product grows. The data model supports user identity. The API supports delta sync. The storage abstraction supports object storage. The continuation notes in the architecture document detail all of this.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slide. Reference documents are all in the repository. The architecture document includes detailed continuation notes for the follow-on team. All 7 product documents and 17 system diagrams are committed to the project repository.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תיבת טקסט 7">
            <a:extLst>
              <a:ext uri="{FF2B5EF4-FFF2-40B4-BE49-F238E27FC236}">
                <a16:creationId xmlns:a16="http://schemas.microsoft.com/office/drawing/2014/main" id="{F6BB09D7-75AD-8BCD-05B2-7740B4FAE8D8}"/>
              </a:ext>
            </a:extLst>
          </p:cNvPr>
          <p:cNvSpPr txBox="1"/>
          <p:nvPr userDrawn="1">
            <p:extLst>
              <p:ext uri="{1162E1C5-73C7-4A58-AE30-91384D911F3F}">
                <p184:classification xmlns:p184="http://schemas.microsoft.com/office/powerpoint/2018/4/main" val="hdr"/>
              </p:ext>
            </p:extLst>
          </p:nvPr>
        </p:nvSpPr>
        <p:spPr>
          <a:xfrm>
            <a:off x="5857875" y="63500"/>
            <a:ext cx="511239" cy="152400"/>
          </a:xfrm>
          <a:prstGeom prst="rect">
            <a:avLst/>
          </a:prstGeom>
        </p:spPr>
        <p:txBody>
          <a:bodyPr horzOverflow="overflow" lIns="0" tIns="0" rIns="0" bIns="0">
            <a:spAutoFit/>
          </a:bodyPr>
          <a:lstStyle/>
          <a:p>
            <a:pPr algn="l"/>
            <a:r>
              <a:rPr lang="he-IL" sz="1000">
                <a:solidFill>
                  <a:srgbClr val="000000">
                    <a:alpha val="50000"/>
                  </a:srgbClr>
                </a:solidFill>
                <a:latin typeface="Aptos" panose="020B0004020202020204" pitchFamily="34" charset="0"/>
              </a:rPr>
              <a:t>- בלמ"ס -</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6126480"/>
            <a:ext cx="12191695" cy="6400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ounded Rectangle 2"/>
          <p:cNvSpPr/>
          <p:nvPr/>
        </p:nvSpPr>
        <p:spPr>
          <a:xfrm>
            <a:off x="457200" y="347472"/>
            <a:ext cx="2578608"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66928" y="384048"/>
            <a:ext cx="2468880" cy="201168"/>
          </a:xfrm>
          <a:prstGeom prst="rect">
            <a:avLst/>
          </a:prstGeom>
          <a:noFill/>
        </p:spPr>
        <p:txBody>
          <a:bodyPr wrap="square">
            <a:spAutoFit/>
          </a:bodyPr>
          <a:lstStyle/>
          <a:p>
            <a:pPr algn="l"/>
            <a:r>
              <a:rPr sz="800" b="1" i="0">
                <a:solidFill>
                  <a:srgbClr val="475569"/>
                </a:solidFill>
                <a:latin typeface="Calibri"/>
              </a:rPr>
              <a:t>DK-01 — Stakeholder Overview</a:t>
            </a:r>
          </a:p>
        </p:txBody>
      </p:sp>
      <p:sp>
        <p:nvSpPr>
          <p:cNvPr id="5" name="TextBox 4"/>
          <p:cNvSpPr txBox="1"/>
          <p:nvPr/>
        </p:nvSpPr>
        <p:spPr>
          <a:xfrm>
            <a:off x="612648" y="1828800"/>
            <a:ext cx="10972800" cy="1097280"/>
          </a:xfrm>
          <a:prstGeom prst="rect">
            <a:avLst/>
          </a:prstGeom>
          <a:noFill/>
        </p:spPr>
        <p:txBody>
          <a:bodyPr wrap="square">
            <a:spAutoFit/>
          </a:bodyPr>
          <a:lstStyle/>
          <a:p>
            <a:pPr algn="ctr"/>
            <a:r>
              <a:rPr sz="3600" b="1">
                <a:solidFill>
                  <a:srgbClr val="F1F5F9"/>
                </a:solidFill>
                <a:latin typeface="Calibri"/>
              </a:rPr>
              <a:t>TactiTok: </a:t>
            </a:r>
            <a:r>
              <a:rPr sz="3600" b="1">
                <a:solidFill>
                  <a:srgbClr val="22C55E"/>
                </a:solidFill>
                <a:latin typeface="Calibri"/>
              </a:rPr>
              <a:t>Training at the Edge</a:t>
            </a:r>
          </a:p>
        </p:txBody>
      </p:sp>
      <p:sp>
        <p:nvSpPr>
          <p:cNvPr id="6" name="TextBox 5"/>
          <p:cNvSpPr txBox="1"/>
          <p:nvPr/>
        </p:nvSpPr>
        <p:spPr>
          <a:xfrm>
            <a:off x="914400" y="3108960"/>
            <a:ext cx="10332720" cy="548640"/>
          </a:xfrm>
          <a:prstGeom prst="rect">
            <a:avLst/>
          </a:prstGeom>
          <a:noFill/>
        </p:spPr>
        <p:txBody>
          <a:bodyPr wrap="square">
            <a:spAutoFit/>
          </a:bodyPr>
          <a:lstStyle/>
          <a:p>
            <a:pPr algn="ctr"/>
            <a:r>
              <a:rPr sz="1300" b="0" i="1">
                <a:solidFill>
                  <a:srgbClr val="94A3B8"/>
                </a:solidFill>
                <a:latin typeface="Calibri"/>
              </a:rPr>
              <a:t>Browser-based training delivery for field personnel under constrained connectivity</a:t>
            </a:r>
          </a:p>
        </p:txBody>
      </p:sp>
      <p:sp>
        <p:nvSpPr>
          <p:cNvPr id="7" name="TextBox 6"/>
          <p:cNvSpPr txBox="1"/>
          <p:nvPr/>
        </p:nvSpPr>
        <p:spPr>
          <a:xfrm>
            <a:off x="612648" y="3840480"/>
            <a:ext cx="10972800" cy="320040"/>
          </a:xfrm>
          <a:prstGeom prst="rect">
            <a:avLst/>
          </a:prstGeom>
          <a:noFill/>
        </p:spPr>
        <p:txBody>
          <a:bodyPr wrap="square">
            <a:spAutoFit/>
          </a:bodyPr>
          <a:lstStyle/>
          <a:p>
            <a:pPr algn="ctr"/>
            <a:r>
              <a:rPr sz="1000" b="0" i="0">
                <a:solidFill>
                  <a:srgbClr val="475569"/>
                </a:solidFill>
                <a:latin typeface="Calibri"/>
              </a:rPr>
              <a:t>Evaluator Briefing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837943"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728215" cy="201168"/>
          </a:xfrm>
          <a:prstGeom prst="rect">
            <a:avLst/>
          </a:prstGeom>
          <a:noFill/>
        </p:spPr>
        <p:txBody>
          <a:bodyPr wrap="square">
            <a:spAutoFit/>
          </a:bodyPr>
          <a:lstStyle/>
          <a:p>
            <a:pPr algn="l"/>
            <a:r>
              <a:rPr sz="800" b="1" i="0">
                <a:solidFill>
                  <a:srgbClr val="22C55E"/>
                </a:solidFill>
                <a:latin typeface="Calibri"/>
              </a:rPr>
              <a:t>OPERATIONAL PROBLEM</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The Training Gap </a:t>
            </a:r>
            <a:r>
              <a:rPr sz="2600" b="1">
                <a:solidFill>
                  <a:srgbClr val="22C55E"/>
                </a:solidFill>
                <a:latin typeface="Calibri"/>
              </a:rPr>
              <a:t>at the Edge</a:t>
            </a:r>
          </a:p>
        </p:txBody>
      </p:sp>
      <p:sp>
        <p:nvSpPr>
          <p:cNvPr id="5" name="Rectangle 4"/>
          <p:cNvSpPr/>
          <p:nvPr/>
        </p:nvSpPr>
        <p:spPr>
          <a:xfrm>
            <a:off x="228600" y="1417320"/>
            <a:ext cx="5486400" cy="201168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228600" y="1417320"/>
            <a:ext cx="50800" cy="20116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57200" y="1645920"/>
            <a:ext cx="5166360" cy="320040"/>
          </a:xfrm>
          <a:prstGeom prst="rect">
            <a:avLst/>
          </a:prstGeom>
          <a:noFill/>
        </p:spPr>
        <p:txBody>
          <a:bodyPr wrap="square">
            <a:spAutoFit/>
          </a:bodyPr>
          <a:lstStyle/>
          <a:p>
            <a:pPr algn="l"/>
            <a:r>
              <a:rPr sz="1200" b="1" i="0">
                <a:solidFill>
                  <a:srgbClr val="F1F5F9"/>
                </a:solidFill>
                <a:latin typeface="Calibri"/>
              </a:rPr>
              <a:t>No Centralized Delivery</a:t>
            </a:r>
          </a:p>
        </p:txBody>
      </p:sp>
      <p:sp>
        <p:nvSpPr>
          <p:cNvPr id="8" name="TextBox 7"/>
          <p:cNvSpPr txBox="1"/>
          <p:nvPr/>
        </p:nvSpPr>
        <p:spPr>
          <a:xfrm>
            <a:off x="457200" y="1965960"/>
            <a:ext cx="5166360" cy="1371600"/>
          </a:xfrm>
          <a:prstGeom prst="rect">
            <a:avLst/>
          </a:prstGeom>
          <a:noFill/>
        </p:spPr>
        <p:txBody>
          <a:bodyPr wrap="square">
            <a:spAutoFit/>
          </a:bodyPr>
          <a:lstStyle/>
          <a:p>
            <a:pPr algn="l"/>
            <a:r>
              <a:rPr sz="1000" b="0" i="0">
                <a:solidFill>
                  <a:srgbClr val="94A3B8"/>
                </a:solidFill>
                <a:latin typeface="Calibri"/>
              </a:rPr>
              <a:t>There is no convenient, reliable way to deliver up-to-date training content to personnel at the edge during operations. The content exists — it just doesn't reach the field.</a:t>
            </a:r>
          </a:p>
        </p:txBody>
      </p:sp>
      <p:sp>
        <p:nvSpPr>
          <p:cNvPr id="9" name="Rectangle 8"/>
          <p:cNvSpPr/>
          <p:nvPr/>
        </p:nvSpPr>
        <p:spPr>
          <a:xfrm>
            <a:off x="5989320" y="1417320"/>
            <a:ext cx="5486400" cy="201168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989320" y="1417320"/>
            <a:ext cx="50800" cy="20116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217920" y="1645920"/>
            <a:ext cx="5166360" cy="320040"/>
          </a:xfrm>
          <a:prstGeom prst="rect">
            <a:avLst/>
          </a:prstGeom>
          <a:noFill/>
        </p:spPr>
        <p:txBody>
          <a:bodyPr wrap="square">
            <a:spAutoFit/>
          </a:bodyPr>
          <a:lstStyle/>
          <a:p>
            <a:pPr algn="l"/>
            <a:r>
              <a:rPr sz="1200" b="1" i="0">
                <a:solidFill>
                  <a:srgbClr val="F1F5F9"/>
                </a:solidFill>
                <a:latin typeface="Calibri"/>
              </a:rPr>
              <a:t>Face-to-Face Training Fails</a:t>
            </a:r>
          </a:p>
        </p:txBody>
      </p:sp>
      <p:sp>
        <p:nvSpPr>
          <p:cNvPr id="12" name="TextBox 11"/>
          <p:cNvSpPr txBox="1"/>
          <p:nvPr/>
        </p:nvSpPr>
        <p:spPr>
          <a:xfrm>
            <a:off x="6217920" y="1965960"/>
            <a:ext cx="5166360" cy="1371600"/>
          </a:xfrm>
          <a:prstGeom prst="rect">
            <a:avLst/>
          </a:prstGeom>
          <a:noFill/>
        </p:spPr>
        <p:txBody>
          <a:bodyPr wrap="square">
            <a:spAutoFit/>
          </a:bodyPr>
          <a:lstStyle/>
          <a:p>
            <a:pPr algn="l"/>
            <a:r>
              <a:rPr sz="1000" b="0" i="0">
                <a:solidFill>
                  <a:srgbClr val="94A3B8"/>
                </a:solidFill>
                <a:latin typeface="Calibri"/>
              </a:rPr>
              <a:t>Today's model relies on in-person sessions and ad-hoc file sharing in unsuitable channels. Updates arrive late — or not at all. Trainers must be physically present.</a:t>
            </a:r>
          </a:p>
        </p:txBody>
      </p:sp>
      <p:sp>
        <p:nvSpPr>
          <p:cNvPr id="13" name="Rectangle 12"/>
          <p:cNvSpPr/>
          <p:nvPr/>
        </p:nvSpPr>
        <p:spPr>
          <a:xfrm>
            <a:off x="228600" y="3566160"/>
            <a:ext cx="5486400" cy="201168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228600" y="3566160"/>
            <a:ext cx="50800" cy="20116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57200" y="3794760"/>
            <a:ext cx="5166360" cy="320040"/>
          </a:xfrm>
          <a:prstGeom prst="rect">
            <a:avLst/>
          </a:prstGeom>
          <a:noFill/>
        </p:spPr>
        <p:txBody>
          <a:bodyPr wrap="square">
            <a:spAutoFit/>
          </a:bodyPr>
          <a:lstStyle/>
          <a:p>
            <a:pPr algn="l"/>
            <a:r>
              <a:rPr sz="1200" b="1" i="0">
                <a:solidFill>
                  <a:srgbClr val="F1F5F9"/>
                </a:solidFill>
                <a:latin typeface="Calibri"/>
              </a:rPr>
              <a:t>Bandwidth-Constrained Consumption</a:t>
            </a:r>
          </a:p>
        </p:txBody>
      </p:sp>
      <p:sp>
        <p:nvSpPr>
          <p:cNvPr id="16" name="TextBox 15"/>
          <p:cNvSpPr txBox="1"/>
          <p:nvPr/>
        </p:nvSpPr>
        <p:spPr>
          <a:xfrm>
            <a:off x="457200" y="4114800"/>
            <a:ext cx="5166360" cy="1371600"/>
          </a:xfrm>
          <a:prstGeom prst="rect">
            <a:avLst/>
          </a:prstGeom>
          <a:noFill/>
        </p:spPr>
        <p:txBody>
          <a:bodyPr wrap="square">
            <a:spAutoFit/>
          </a:bodyPr>
          <a:lstStyle/>
          <a:p>
            <a:pPr algn="l"/>
            <a:r>
              <a:rPr sz="1000" b="0" i="0">
                <a:solidFill>
                  <a:srgbClr val="94A3B8"/>
                </a:solidFill>
                <a:latin typeface="Calibri"/>
              </a:rPr>
              <a:t>Under limited bandwidth and a kiosk-like setup, consuming video and documents is cumbersome and inconsistent. Buffering, failures, and poor UX break the learning experience.</a:t>
            </a:r>
          </a:p>
        </p:txBody>
      </p:sp>
      <p:sp>
        <p:nvSpPr>
          <p:cNvPr id="17" name="Rectangle 16"/>
          <p:cNvSpPr/>
          <p:nvPr/>
        </p:nvSpPr>
        <p:spPr>
          <a:xfrm>
            <a:off x="5989320" y="3566160"/>
            <a:ext cx="5486400" cy="201168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5989320" y="3566160"/>
            <a:ext cx="50800" cy="20116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17920" y="3794760"/>
            <a:ext cx="5166360" cy="320040"/>
          </a:xfrm>
          <a:prstGeom prst="rect">
            <a:avLst/>
          </a:prstGeom>
          <a:noFill/>
        </p:spPr>
        <p:txBody>
          <a:bodyPr wrap="square">
            <a:spAutoFit/>
          </a:bodyPr>
          <a:lstStyle/>
          <a:p>
            <a:pPr algn="l"/>
            <a:r>
              <a:rPr sz="1200" b="1" i="0">
                <a:solidFill>
                  <a:srgbClr val="F1F5F9"/>
                </a:solidFill>
                <a:latin typeface="Calibri"/>
              </a:rPr>
              <a:t>No Habitual Pull Mechanism</a:t>
            </a:r>
          </a:p>
        </p:txBody>
      </p:sp>
      <p:sp>
        <p:nvSpPr>
          <p:cNvPr id="20" name="TextBox 19"/>
          <p:cNvSpPr txBox="1"/>
          <p:nvPr/>
        </p:nvSpPr>
        <p:spPr>
          <a:xfrm>
            <a:off x="6217920" y="4114800"/>
            <a:ext cx="5166360" cy="1371600"/>
          </a:xfrm>
          <a:prstGeom prst="rect">
            <a:avLst/>
          </a:prstGeom>
          <a:noFill/>
        </p:spPr>
        <p:txBody>
          <a:bodyPr wrap="square">
            <a:spAutoFit/>
          </a:bodyPr>
          <a:lstStyle/>
          <a:p>
            <a:pPr algn="l"/>
            <a:r>
              <a:rPr sz="1000" b="0" i="0">
                <a:solidFill>
                  <a:srgbClr val="94A3B8"/>
                </a:solidFill>
                <a:latin typeface="Calibri"/>
              </a:rPr>
              <a:t>There is no experience that mirrors natural short-form content consumption — nothing that makes learning feel routine during rest breaks. Learning requires deliberate effort every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37160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261872" cy="201168"/>
          </a:xfrm>
          <a:prstGeom prst="rect">
            <a:avLst/>
          </a:prstGeom>
          <a:noFill/>
        </p:spPr>
        <p:txBody>
          <a:bodyPr wrap="square">
            <a:spAutoFit/>
          </a:bodyPr>
          <a:lstStyle/>
          <a:p>
            <a:pPr algn="l"/>
            <a:r>
              <a:rPr sz="800" b="1" i="0">
                <a:solidFill>
                  <a:srgbClr val="22C55E"/>
                </a:solidFill>
                <a:latin typeface="Calibri"/>
              </a:rPr>
              <a:t>THE VISION</a:t>
            </a:r>
          </a:p>
        </p:txBody>
      </p:sp>
      <p:sp>
        <p:nvSpPr>
          <p:cNvPr id="4" name="Rectangle 3"/>
          <p:cNvSpPr/>
          <p:nvPr/>
        </p:nvSpPr>
        <p:spPr>
          <a:xfrm>
            <a:off x="365760" y="594360"/>
            <a:ext cx="11430000" cy="100584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365760" y="594360"/>
            <a:ext cx="50800" cy="10058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0080" y="685800"/>
            <a:ext cx="11064240" cy="822960"/>
          </a:xfrm>
          <a:prstGeom prst="rect">
            <a:avLst/>
          </a:prstGeom>
          <a:noFill/>
        </p:spPr>
        <p:txBody>
          <a:bodyPr wrap="square">
            <a:spAutoFit/>
          </a:bodyPr>
          <a:lstStyle/>
          <a:p>
            <a:pPr algn="l"/>
            <a:r>
              <a:rPr sz="1300" b="0" i="1">
                <a:solidFill>
                  <a:srgbClr val="F1F5F9"/>
                </a:solidFill>
                <a:latin typeface="Calibri"/>
              </a:rPr>
              <a:t>"Turn wartime downtime into short, accessible, up-to-date operational learning — even under non-ideal connectivity."</a:t>
            </a:r>
          </a:p>
        </p:txBody>
      </p:sp>
      <p:sp>
        <p:nvSpPr>
          <p:cNvPr id="7" name="TextBox 6"/>
          <p:cNvSpPr txBox="1"/>
          <p:nvPr/>
        </p:nvSpPr>
        <p:spPr>
          <a:xfrm>
            <a:off x="365760" y="1828800"/>
            <a:ext cx="5486400" cy="365760"/>
          </a:xfrm>
          <a:prstGeom prst="rect">
            <a:avLst/>
          </a:prstGeom>
          <a:noFill/>
        </p:spPr>
        <p:txBody>
          <a:bodyPr wrap="square">
            <a:spAutoFit/>
          </a:bodyPr>
          <a:lstStyle/>
          <a:p>
            <a:pPr algn="l"/>
            <a:r>
              <a:rPr sz="1500" b="1" i="0">
                <a:solidFill>
                  <a:srgbClr val="22C55E"/>
                </a:solidFill>
                <a:latin typeface="Calibri"/>
              </a:rPr>
              <a:t>TikTok for Training</a:t>
            </a:r>
          </a:p>
        </p:txBody>
      </p:sp>
      <p:sp>
        <p:nvSpPr>
          <p:cNvPr id="8" name="TextBox 7"/>
          <p:cNvSpPr txBox="1"/>
          <p:nvPr/>
        </p:nvSpPr>
        <p:spPr>
          <a:xfrm>
            <a:off x="365760" y="2286000"/>
            <a:ext cx="5486400" cy="731520"/>
          </a:xfrm>
          <a:prstGeom prst="rect">
            <a:avLst/>
          </a:prstGeom>
          <a:noFill/>
        </p:spPr>
        <p:txBody>
          <a:bodyPr wrap="square">
            <a:spAutoFit/>
          </a:bodyPr>
          <a:lstStyle/>
          <a:p>
            <a:pPr algn="l"/>
            <a:r>
              <a:rPr sz="1100" b="0" i="0">
                <a:solidFill>
                  <a:srgbClr val="F1F5F9"/>
                </a:solidFill>
                <a:latin typeface="Calibri"/>
              </a:rPr>
              <a:t>› Fighters scroll a curated feed of short video clips (≤3 min), filtered by their selected interests</a:t>
            </a:r>
          </a:p>
        </p:txBody>
      </p:sp>
      <p:sp>
        <p:nvSpPr>
          <p:cNvPr id="9" name="TextBox 8"/>
          <p:cNvSpPr txBox="1"/>
          <p:nvPr/>
        </p:nvSpPr>
        <p:spPr>
          <a:xfrm>
            <a:off x="365760" y="3063240"/>
            <a:ext cx="5486400" cy="731520"/>
          </a:xfrm>
          <a:prstGeom prst="rect">
            <a:avLst/>
          </a:prstGeom>
          <a:noFill/>
        </p:spPr>
        <p:txBody>
          <a:bodyPr wrap="square">
            <a:spAutoFit/>
          </a:bodyPr>
          <a:lstStyle/>
          <a:p>
            <a:pPr algn="l"/>
            <a:r>
              <a:rPr sz="1100" b="0" i="0">
                <a:solidFill>
                  <a:srgbClr val="F1F5F9"/>
                </a:solidFill>
                <a:latin typeface="Calibri"/>
              </a:rPr>
              <a:t>› Videos auto-play as they appear — no deliberate search required</a:t>
            </a:r>
          </a:p>
        </p:txBody>
      </p:sp>
      <p:sp>
        <p:nvSpPr>
          <p:cNvPr id="10" name="TextBox 9"/>
          <p:cNvSpPr txBox="1"/>
          <p:nvPr/>
        </p:nvSpPr>
        <p:spPr>
          <a:xfrm>
            <a:off x="365760" y="3840480"/>
            <a:ext cx="5486400" cy="731520"/>
          </a:xfrm>
          <a:prstGeom prst="rect">
            <a:avLst/>
          </a:prstGeom>
          <a:noFill/>
        </p:spPr>
        <p:txBody>
          <a:bodyPr wrap="square">
            <a:spAutoFit/>
          </a:bodyPr>
          <a:lstStyle/>
          <a:p>
            <a:pPr algn="l"/>
            <a:r>
              <a:rPr sz="1100" b="0" i="0">
                <a:solidFill>
                  <a:srgbClr val="F1F5F9"/>
                </a:solidFill>
                <a:latin typeface="Calibri"/>
              </a:rPr>
              <a:t>› Learning becomes a natural habit during rest breaks, not a task to schedule</a:t>
            </a:r>
          </a:p>
        </p:txBody>
      </p:sp>
      <p:sp>
        <p:nvSpPr>
          <p:cNvPr id="11" name="TextBox 10"/>
          <p:cNvSpPr txBox="1"/>
          <p:nvPr/>
        </p:nvSpPr>
        <p:spPr>
          <a:xfrm>
            <a:off x="6309360" y="1828800"/>
            <a:ext cx="5486400" cy="365760"/>
          </a:xfrm>
          <a:prstGeom prst="rect">
            <a:avLst/>
          </a:prstGeom>
          <a:noFill/>
        </p:spPr>
        <p:txBody>
          <a:bodyPr wrap="square">
            <a:spAutoFit/>
          </a:bodyPr>
          <a:lstStyle/>
          <a:p>
            <a:pPr algn="l"/>
            <a:r>
              <a:rPr sz="1500" b="1" i="0">
                <a:solidFill>
                  <a:srgbClr val="60A5FA"/>
                </a:solidFill>
                <a:latin typeface="Calibri"/>
              </a:rPr>
              <a:t>Library &amp; Hybrid Offline</a:t>
            </a:r>
          </a:p>
        </p:txBody>
      </p:sp>
      <p:sp>
        <p:nvSpPr>
          <p:cNvPr id="12" name="TextBox 11"/>
          <p:cNvSpPr txBox="1"/>
          <p:nvPr/>
        </p:nvSpPr>
        <p:spPr>
          <a:xfrm>
            <a:off x="6309360" y="2286000"/>
            <a:ext cx="5486400" cy="731520"/>
          </a:xfrm>
          <a:prstGeom prst="rect">
            <a:avLst/>
          </a:prstGeom>
          <a:noFill/>
        </p:spPr>
        <p:txBody>
          <a:bodyPr wrap="square">
            <a:spAutoFit/>
          </a:bodyPr>
          <a:lstStyle/>
          <a:p>
            <a:pPr algn="l"/>
            <a:r>
              <a:rPr sz="1100" b="0" i="0">
                <a:solidFill>
                  <a:srgbClr val="F1F5F9"/>
                </a:solidFill>
                <a:latin typeface="Calibri"/>
              </a:rPr>
              <a:t>› For specific questions, a searchable category library provides targeted lookup</a:t>
            </a:r>
          </a:p>
        </p:txBody>
      </p:sp>
      <p:sp>
        <p:nvSpPr>
          <p:cNvPr id="13" name="TextBox 12"/>
          <p:cNvSpPr txBox="1"/>
          <p:nvPr/>
        </p:nvSpPr>
        <p:spPr>
          <a:xfrm>
            <a:off x="6309360" y="3063240"/>
            <a:ext cx="5486400" cy="731520"/>
          </a:xfrm>
          <a:prstGeom prst="rect">
            <a:avLst/>
          </a:prstGeom>
          <a:noFill/>
        </p:spPr>
        <p:txBody>
          <a:bodyPr wrap="square">
            <a:spAutoFit/>
          </a:bodyPr>
          <a:lstStyle/>
          <a:p>
            <a:pPr algn="l"/>
            <a:r>
              <a:rPr sz="1100" b="0" i="0">
                <a:solidFill>
                  <a:srgbClr val="F1F5F9"/>
                </a:solidFill>
                <a:latin typeface="Calibri"/>
              </a:rPr>
              <a:t>› Metadata syncs when network is available; content is fetched on demand</a:t>
            </a:r>
          </a:p>
        </p:txBody>
      </p:sp>
      <p:sp>
        <p:nvSpPr>
          <p:cNvPr id="14" name="TextBox 13"/>
          <p:cNvSpPr txBox="1"/>
          <p:nvPr/>
        </p:nvSpPr>
        <p:spPr>
          <a:xfrm>
            <a:off x="6309360" y="3840480"/>
            <a:ext cx="5486400" cy="731520"/>
          </a:xfrm>
          <a:prstGeom prst="rect">
            <a:avLst/>
          </a:prstGeom>
          <a:noFill/>
        </p:spPr>
        <p:txBody>
          <a:bodyPr wrap="square">
            <a:spAutoFit/>
          </a:bodyPr>
          <a:lstStyle/>
          <a:p>
            <a:pPr algn="l"/>
            <a:r>
              <a:rPr sz="1100" b="0" i="0">
                <a:solidFill>
                  <a:srgbClr val="F1F5F9"/>
                </a:solidFill>
                <a:latin typeface="Calibri"/>
              </a:rPr>
              <a:t>› Manual download guarantees offline access for any item — video or PDF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37160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261872" cy="201168"/>
          </a:xfrm>
          <a:prstGeom prst="rect">
            <a:avLst/>
          </a:prstGeom>
          <a:noFill/>
        </p:spPr>
        <p:txBody>
          <a:bodyPr wrap="square">
            <a:spAutoFit/>
          </a:bodyPr>
          <a:lstStyle/>
          <a:p>
            <a:pPr algn="l"/>
            <a:r>
              <a:rPr sz="800" b="1" i="0">
                <a:solidFill>
                  <a:srgbClr val="22C55E"/>
                </a:solidFill>
                <a:latin typeface="Calibri"/>
              </a:rPr>
              <a:t>TARGET USERS</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Who Uses </a:t>
            </a:r>
            <a:r>
              <a:rPr sz="2600" b="1">
                <a:solidFill>
                  <a:srgbClr val="22C55E"/>
                </a:solidFill>
                <a:latin typeface="Calibri"/>
              </a:rPr>
              <a:t>TactiTok</a:t>
            </a:r>
          </a:p>
        </p:txBody>
      </p:sp>
      <p:sp>
        <p:nvSpPr>
          <p:cNvPr id="5" name="Rectangle 4"/>
          <p:cNvSpPr/>
          <p:nvPr/>
        </p:nvSpPr>
        <p:spPr>
          <a:xfrm>
            <a:off x="228600" y="1417320"/>
            <a:ext cx="5760720" cy="475488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228600" y="1417320"/>
            <a:ext cx="576072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411480" y="1600200"/>
            <a:ext cx="137160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21208" y="1636776"/>
            <a:ext cx="1261872" cy="201168"/>
          </a:xfrm>
          <a:prstGeom prst="rect">
            <a:avLst/>
          </a:prstGeom>
          <a:noFill/>
        </p:spPr>
        <p:txBody>
          <a:bodyPr wrap="square">
            <a:spAutoFit/>
          </a:bodyPr>
          <a:lstStyle/>
          <a:p>
            <a:pPr algn="l"/>
            <a:r>
              <a:rPr sz="800" b="1" i="0">
                <a:solidFill>
                  <a:srgbClr val="22C55E"/>
                </a:solidFill>
                <a:latin typeface="Calibri"/>
              </a:rPr>
              <a:t>Primary User</a:t>
            </a:r>
          </a:p>
        </p:txBody>
      </p:sp>
      <p:sp>
        <p:nvSpPr>
          <p:cNvPr id="9" name="TextBox 8"/>
          <p:cNvSpPr txBox="1"/>
          <p:nvPr/>
        </p:nvSpPr>
        <p:spPr>
          <a:xfrm>
            <a:off x="411480" y="1965960"/>
            <a:ext cx="5486400" cy="411480"/>
          </a:xfrm>
          <a:prstGeom prst="rect">
            <a:avLst/>
          </a:prstGeom>
          <a:noFill/>
        </p:spPr>
        <p:txBody>
          <a:bodyPr wrap="square">
            <a:spAutoFit/>
          </a:bodyPr>
          <a:lstStyle/>
          <a:p>
            <a:pPr algn="l"/>
            <a:r>
              <a:rPr sz="1400" b="1" i="0">
                <a:solidFill>
                  <a:srgbClr val="F1F5F9"/>
                </a:solidFill>
                <a:latin typeface="Calibri"/>
              </a:rPr>
              <a:t>Fighter — Edge Consumer</a:t>
            </a:r>
          </a:p>
        </p:txBody>
      </p:sp>
      <p:sp>
        <p:nvSpPr>
          <p:cNvPr id="10" name="Rectangle 9"/>
          <p:cNvSpPr/>
          <p:nvPr/>
        </p:nvSpPr>
        <p:spPr>
          <a:xfrm>
            <a:off x="411480" y="2423160"/>
            <a:ext cx="5394960" cy="635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11480" y="2560320"/>
            <a:ext cx="1188720" cy="365760"/>
          </a:xfrm>
          <a:prstGeom prst="rect">
            <a:avLst/>
          </a:prstGeom>
          <a:noFill/>
        </p:spPr>
        <p:txBody>
          <a:bodyPr wrap="square">
            <a:spAutoFit/>
          </a:bodyPr>
          <a:lstStyle/>
          <a:p>
            <a:pPr algn="l"/>
            <a:r>
              <a:rPr sz="1000" b="1" i="0">
                <a:solidFill>
                  <a:srgbClr val="94A3B8"/>
                </a:solidFill>
                <a:latin typeface="Calibri"/>
              </a:rPr>
              <a:t>Device:</a:t>
            </a:r>
          </a:p>
        </p:txBody>
      </p:sp>
      <p:sp>
        <p:nvSpPr>
          <p:cNvPr id="12" name="TextBox 11"/>
          <p:cNvSpPr txBox="1"/>
          <p:nvPr/>
        </p:nvSpPr>
        <p:spPr>
          <a:xfrm>
            <a:off x="1645920" y="2560320"/>
            <a:ext cx="4114800" cy="365760"/>
          </a:xfrm>
          <a:prstGeom prst="rect">
            <a:avLst/>
          </a:prstGeom>
          <a:noFill/>
        </p:spPr>
        <p:txBody>
          <a:bodyPr wrap="square">
            <a:spAutoFit/>
          </a:bodyPr>
          <a:lstStyle/>
          <a:p>
            <a:pPr algn="l"/>
            <a:r>
              <a:rPr sz="1000" b="0" i="0">
                <a:solidFill>
                  <a:srgbClr val="F1F5F9"/>
                </a:solidFill>
                <a:latin typeface="Calibri"/>
              </a:rPr>
              <a:t>~10 inch tablet, Chrome kiosk mode</a:t>
            </a:r>
          </a:p>
        </p:txBody>
      </p:sp>
      <p:sp>
        <p:nvSpPr>
          <p:cNvPr id="13" name="TextBox 12"/>
          <p:cNvSpPr txBox="1"/>
          <p:nvPr/>
        </p:nvSpPr>
        <p:spPr>
          <a:xfrm>
            <a:off x="411480" y="3200400"/>
            <a:ext cx="1188720" cy="365760"/>
          </a:xfrm>
          <a:prstGeom prst="rect">
            <a:avLst/>
          </a:prstGeom>
          <a:noFill/>
        </p:spPr>
        <p:txBody>
          <a:bodyPr wrap="square">
            <a:spAutoFit/>
          </a:bodyPr>
          <a:lstStyle/>
          <a:p>
            <a:pPr algn="l"/>
            <a:r>
              <a:rPr sz="1000" b="1" i="0">
                <a:solidFill>
                  <a:srgbClr val="94A3B8"/>
                </a:solidFill>
                <a:latin typeface="Calibri"/>
              </a:rPr>
              <a:t>Location:</a:t>
            </a:r>
          </a:p>
        </p:txBody>
      </p:sp>
      <p:sp>
        <p:nvSpPr>
          <p:cNvPr id="14" name="TextBox 13"/>
          <p:cNvSpPr txBox="1"/>
          <p:nvPr/>
        </p:nvSpPr>
        <p:spPr>
          <a:xfrm>
            <a:off x="1645920" y="3200400"/>
            <a:ext cx="4114800" cy="365760"/>
          </a:xfrm>
          <a:prstGeom prst="rect">
            <a:avLst/>
          </a:prstGeom>
          <a:noFill/>
        </p:spPr>
        <p:txBody>
          <a:bodyPr wrap="square">
            <a:spAutoFit/>
          </a:bodyPr>
          <a:lstStyle/>
          <a:p>
            <a:pPr algn="l"/>
            <a:r>
              <a:rPr sz="1000" b="0" i="0">
                <a:solidFill>
                  <a:srgbClr val="F1F5F9"/>
                </a:solidFill>
                <a:latin typeface="Calibri"/>
              </a:rPr>
              <a:t>Field / operational environment</a:t>
            </a:r>
          </a:p>
        </p:txBody>
      </p:sp>
      <p:sp>
        <p:nvSpPr>
          <p:cNvPr id="15" name="TextBox 14"/>
          <p:cNvSpPr txBox="1"/>
          <p:nvPr/>
        </p:nvSpPr>
        <p:spPr>
          <a:xfrm>
            <a:off x="411480" y="3840479"/>
            <a:ext cx="1188720" cy="365760"/>
          </a:xfrm>
          <a:prstGeom prst="rect">
            <a:avLst/>
          </a:prstGeom>
          <a:noFill/>
        </p:spPr>
        <p:txBody>
          <a:bodyPr wrap="square">
            <a:spAutoFit/>
          </a:bodyPr>
          <a:lstStyle/>
          <a:p>
            <a:pPr algn="l"/>
            <a:r>
              <a:rPr sz="1000" b="1" i="0">
                <a:solidFill>
                  <a:srgbClr val="94A3B8"/>
                </a:solidFill>
                <a:latin typeface="Calibri"/>
              </a:rPr>
              <a:t>When:</a:t>
            </a:r>
          </a:p>
        </p:txBody>
      </p:sp>
      <p:sp>
        <p:nvSpPr>
          <p:cNvPr id="16" name="TextBox 15"/>
          <p:cNvSpPr txBox="1"/>
          <p:nvPr/>
        </p:nvSpPr>
        <p:spPr>
          <a:xfrm>
            <a:off x="1645920" y="3840479"/>
            <a:ext cx="4114800" cy="365760"/>
          </a:xfrm>
          <a:prstGeom prst="rect">
            <a:avLst/>
          </a:prstGeom>
          <a:noFill/>
        </p:spPr>
        <p:txBody>
          <a:bodyPr wrap="square">
            <a:spAutoFit/>
          </a:bodyPr>
          <a:lstStyle/>
          <a:p>
            <a:pPr algn="l"/>
            <a:r>
              <a:rPr sz="1000" b="0" i="0">
                <a:solidFill>
                  <a:srgbClr val="F1F5F9"/>
                </a:solidFill>
                <a:latin typeface="Calibri"/>
              </a:rPr>
              <a:t>Short rest breaks between activities</a:t>
            </a:r>
          </a:p>
        </p:txBody>
      </p:sp>
      <p:sp>
        <p:nvSpPr>
          <p:cNvPr id="17" name="TextBox 16"/>
          <p:cNvSpPr txBox="1"/>
          <p:nvPr/>
        </p:nvSpPr>
        <p:spPr>
          <a:xfrm>
            <a:off x="411480" y="4480559"/>
            <a:ext cx="1188720" cy="365760"/>
          </a:xfrm>
          <a:prstGeom prst="rect">
            <a:avLst/>
          </a:prstGeom>
          <a:noFill/>
        </p:spPr>
        <p:txBody>
          <a:bodyPr wrap="square">
            <a:spAutoFit/>
          </a:bodyPr>
          <a:lstStyle/>
          <a:p>
            <a:pPr algn="l"/>
            <a:r>
              <a:rPr sz="1000" b="1" i="0">
                <a:solidFill>
                  <a:srgbClr val="94A3B8"/>
                </a:solidFill>
                <a:latin typeface="Calibri"/>
              </a:rPr>
              <a:t>Identity:</a:t>
            </a:r>
          </a:p>
        </p:txBody>
      </p:sp>
      <p:sp>
        <p:nvSpPr>
          <p:cNvPr id="18" name="TextBox 17"/>
          <p:cNvSpPr txBox="1"/>
          <p:nvPr/>
        </p:nvSpPr>
        <p:spPr>
          <a:xfrm>
            <a:off x="1645920" y="4480559"/>
            <a:ext cx="4114800" cy="365760"/>
          </a:xfrm>
          <a:prstGeom prst="rect">
            <a:avLst/>
          </a:prstGeom>
          <a:noFill/>
        </p:spPr>
        <p:txBody>
          <a:bodyPr wrap="square">
            <a:spAutoFit/>
          </a:bodyPr>
          <a:lstStyle/>
          <a:p>
            <a:pPr algn="l"/>
            <a:r>
              <a:rPr sz="1000" b="0" i="0">
                <a:solidFill>
                  <a:srgbClr val="F1F5F9"/>
                </a:solidFill>
                <a:latin typeface="Calibri"/>
              </a:rPr>
              <a:t>No login — device profile stores interests</a:t>
            </a:r>
          </a:p>
        </p:txBody>
      </p:sp>
      <p:sp>
        <p:nvSpPr>
          <p:cNvPr id="19" name="TextBox 18"/>
          <p:cNvSpPr txBox="1"/>
          <p:nvPr/>
        </p:nvSpPr>
        <p:spPr>
          <a:xfrm>
            <a:off x="411480" y="5120640"/>
            <a:ext cx="1188720" cy="365760"/>
          </a:xfrm>
          <a:prstGeom prst="rect">
            <a:avLst/>
          </a:prstGeom>
          <a:noFill/>
        </p:spPr>
        <p:txBody>
          <a:bodyPr wrap="square">
            <a:spAutoFit/>
          </a:bodyPr>
          <a:lstStyle/>
          <a:p>
            <a:pPr algn="l"/>
            <a:r>
              <a:rPr sz="1000" b="1" i="0">
                <a:solidFill>
                  <a:srgbClr val="94A3B8"/>
                </a:solidFill>
                <a:latin typeface="Calibri"/>
              </a:rPr>
              <a:t>Behavior:</a:t>
            </a:r>
          </a:p>
        </p:txBody>
      </p:sp>
      <p:sp>
        <p:nvSpPr>
          <p:cNvPr id="20" name="TextBox 19"/>
          <p:cNvSpPr txBox="1"/>
          <p:nvPr/>
        </p:nvSpPr>
        <p:spPr>
          <a:xfrm>
            <a:off x="1645920" y="5120640"/>
            <a:ext cx="4114800" cy="365760"/>
          </a:xfrm>
          <a:prstGeom prst="rect">
            <a:avLst/>
          </a:prstGeom>
          <a:noFill/>
        </p:spPr>
        <p:txBody>
          <a:bodyPr wrap="square">
            <a:spAutoFit/>
          </a:bodyPr>
          <a:lstStyle/>
          <a:p>
            <a:pPr algn="l"/>
            <a:r>
              <a:rPr sz="1000" b="0" i="0">
                <a:solidFill>
                  <a:srgbClr val="F1F5F9"/>
                </a:solidFill>
                <a:latin typeface="Calibri"/>
              </a:rPr>
              <a:t>Passive scroll (reels) or active search (library)</a:t>
            </a:r>
          </a:p>
        </p:txBody>
      </p:sp>
      <p:sp>
        <p:nvSpPr>
          <p:cNvPr id="21" name="Rectangle 20"/>
          <p:cNvSpPr/>
          <p:nvPr/>
        </p:nvSpPr>
        <p:spPr>
          <a:xfrm>
            <a:off x="6245352" y="1417320"/>
            <a:ext cx="5760720" cy="475488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6245352" y="1417320"/>
            <a:ext cx="5760720" cy="381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6428232" y="1600200"/>
            <a:ext cx="1426464"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537960" y="1636776"/>
            <a:ext cx="1316736" cy="201168"/>
          </a:xfrm>
          <a:prstGeom prst="rect">
            <a:avLst/>
          </a:prstGeom>
          <a:noFill/>
        </p:spPr>
        <p:txBody>
          <a:bodyPr wrap="square">
            <a:spAutoFit/>
          </a:bodyPr>
          <a:lstStyle/>
          <a:p>
            <a:pPr algn="l"/>
            <a:r>
              <a:rPr sz="800" b="1" i="0">
                <a:solidFill>
                  <a:srgbClr val="60A5FA"/>
                </a:solidFill>
                <a:latin typeface="Calibri"/>
              </a:rPr>
              <a:t>Secondary User</a:t>
            </a:r>
          </a:p>
        </p:txBody>
      </p:sp>
      <p:sp>
        <p:nvSpPr>
          <p:cNvPr id="25" name="TextBox 24"/>
          <p:cNvSpPr txBox="1"/>
          <p:nvPr/>
        </p:nvSpPr>
        <p:spPr>
          <a:xfrm>
            <a:off x="6428232" y="1965960"/>
            <a:ext cx="5486400" cy="411480"/>
          </a:xfrm>
          <a:prstGeom prst="rect">
            <a:avLst/>
          </a:prstGeom>
          <a:noFill/>
        </p:spPr>
        <p:txBody>
          <a:bodyPr wrap="square">
            <a:spAutoFit/>
          </a:bodyPr>
          <a:lstStyle/>
          <a:p>
            <a:pPr algn="l"/>
            <a:r>
              <a:rPr sz="1400" b="1" i="0">
                <a:solidFill>
                  <a:srgbClr val="F1F5F9"/>
                </a:solidFill>
                <a:latin typeface="Calibri"/>
              </a:rPr>
              <a:t>HQ Training Staff — Content Manager</a:t>
            </a:r>
          </a:p>
        </p:txBody>
      </p:sp>
      <p:sp>
        <p:nvSpPr>
          <p:cNvPr id="26" name="Rectangle 25"/>
          <p:cNvSpPr/>
          <p:nvPr/>
        </p:nvSpPr>
        <p:spPr>
          <a:xfrm>
            <a:off x="6428232" y="2423160"/>
            <a:ext cx="5394960" cy="635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428232" y="2560320"/>
            <a:ext cx="1188720" cy="365760"/>
          </a:xfrm>
          <a:prstGeom prst="rect">
            <a:avLst/>
          </a:prstGeom>
          <a:noFill/>
        </p:spPr>
        <p:txBody>
          <a:bodyPr wrap="square">
            <a:spAutoFit/>
          </a:bodyPr>
          <a:lstStyle/>
          <a:p>
            <a:pPr algn="l"/>
            <a:r>
              <a:rPr sz="1000" b="1" i="0">
                <a:solidFill>
                  <a:srgbClr val="94A3B8"/>
                </a:solidFill>
                <a:latin typeface="Calibri"/>
              </a:rPr>
              <a:t>Device:</a:t>
            </a:r>
          </a:p>
        </p:txBody>
      </p:sp>
      <p:sp>
        <p:nvSpPr>
          <p:cNvPr id="28" name="TextBox 27"/>
          <p:cNvSpPr txBox="1"/>
          <p:nvPr/>
        </p:nvSpPr>
        <p:spPr>
          <a:xfrm>
            <a:off x="7662672" y="2560320"/>
            <a:ext cx="4114800" cy="365760"/>
          </a:xfrm>
          <a:prstGeom prst="rect">
            <a:avLst/>
          </a:prstGeom>
          <a:noFill/>
        </p:spPr>
        <p:txBody>
          <a:bodyPr wrap="square">
            <a:spAutoFit/>
          </a:bodyPr>
          <a:lstStyle/>
          <a:p>
            <a:pPr algn="l"/>
            <a:r>
              <a:rPr sz="1000" b="0" i="0">
                <a:solidFill>
                  <a:srgbClr val="F1F5F9"/>
                </a:solidFill>
                <a:latin typeface="Calibri"/>
              </a:rPr>
              <a:t>Standard desktop / laptop, modern browser</a:t>
            </a:r>
          </a:p>
        </p:txBody>
      </p:sp>
      <p:sp>
        <p:nvSpPr>
          <p:cNvPr id="29" name="TextBox 28"/>
          <p:cNvSpPr txBox="1"/>
          <p:nvPr/>
        </p:nvSpPr>
        <p:spPr>
          <a:xfrm>
            <a:off x="6428232" y="3200400"/>
            <a:ext cx="1188720" cy="365760"/>
          </a:xfrm>
          <a:prstGeom prst="rect">
            <a:avLst/>
          </a:prstGeom>
          <a:noFill/>
        </p:spPr>
        <p:txBody>
          <a:bodyPr wrap="square">
            <a:spAutoFit/>
          </a:bodyPr>
          <a:lstStyle/>
          <a:p>
            <a:pPr algn="l"/>
            <a:r>
              <a:rPr sz="1000" b="1" i="0">
                <a:solidFill>
                  <a:srgbClr val="94A3B8"/>
                </a:solidFill>
                <a:latin typeface="Calibri"/>
              </a:rPr>
              <a:t>Location:</a:t>
            </a:r>
          </a:p>
        </p:txBody>
      </p:sp>
      <p:sp>
        <p:nvSpPr>
          <p:cNvPr id="30" name="TextBox 29"/>
          <p:cNvSpPr txBox="1"/>
          <p:nvPr/>
        </p:nvSpPr>
        <p:spPr>
          <a:xfrm>
            <a:off x="7662672" y="3200400"/>
            <a:ext cx="4114800" cy="365760"/>
          </a:xfrm>
          <a:prstGeom prst="rect">
            <a:avLst/>
          </a:prstGeom>
          <a:noFill/>
        </p:spPr>
        <p:txBody>
          <a:bodyPr wrap="square">
            <a:spAutoFit/>
          </a:bodyPr>
          <a:lstStyle/>
          <a:p>
            <a:pPr algn="l"/>
            <a:r>
              <a:rPr sz="1000" b="0" i="0">
                <a:solidFill>
                  <a:srgbClr val="F1F5F9"/>
                </a:solidFill>
                <a:latin typeface="Calibri"/>
              </a:rPr>
              <a:t>HQ / rear command</a:t>
            </a:r>
          </a:p>
        </p:txBody>
      </p:sp>
      <p:sp>
        <p:nvSpPr>
          <p:cNvPr id="31" name="TextBox 30"/>
          <p:cNvSpPr txBox="1"/>
          <p:nvPr/>
        </p:nvSpPr>
        <p:spPr>
          <a:xfrm>
            <a:off x="6428232" y="3840479"/>
            <a:ext cx="1188720" cy="365760"/>
          </a:xfrm>
          <a:prstGeom prst="rect">
            <a:avLst/>
          </a:prstGeom>
          <a:noFill/>
        </p:spPr>
        <p:txBody>
          <a:bodyPr wrap="square">
            <a:spAutoFit/>
          </a:bodyPr>
          <a:lstStyle/>
          <a:p>
            <a:pPr algn="l"/>
            <a:r>
              <a:rPr sz="1000" b="1" i="0">
                <a:solidFill>
                  <a:srgbClr val="94A3B8"/>
                </a:solidFill>
                <a:latin typeface="Calibri"/>
              </a:rPr>
              <a:t>When:</a:t>
            </a:r>
          </a:p>
        </p:txBody>
      </p:sp>
      <p:sp>
        <p:nvSpPr>
          <p:cNvPr id="32" name="TextBox 31"/>
          <p:cNvSpPr txBox="1"/>
          <p:nvPr/>
        </p:nvSpPr>
        <p:spPr>
          <a:xfrm>
            <a:off x="7662672" y="3840479"/>
            <a:ext cx="4114800" cy="365760"/>
          </a:xfrm>
          <a:prstGeom prst="rect">
            <a:avLst/>
          </a:prstGeom>
          <a:noFill/>
        </p:spPr>
        <p:txBody>
          <a:bodyPr wrap="square">
            <a:spAutoFit/>
          </a:bodyPr>
          <a:lstStyle/>
          <a:p>
            <a:pPr algn="l"/>
            <a:r>
              <a:rPr sz="1000" b="0" i="0">
                <a:solidFill>
                  <a:srgbClr val="F1F5F9"/>
                </a:solidFill>
                <a:latin typeface="Calibri"/>
              </a:rPr>
              <a:t>Working hours, when new material is ready</a:t>
            </a:r>
          </a:p>
        </p:txBody>
      </p:sp>
      <p:sp>
        <p:nvSpPr>
          <p:cNvPr id="33" name="TextBox 32"/>
          <p:cNvSpPr txBox="1"/>
          <p:nvPr/>
        </p:nvSpPr>
        <p:spPr>
          <a:xfrm>
            <a:off x="6428232" y="4480559"/>
            <a:ext cx="1188720" cy="365760"/>
          </a:xfrm>
          <a:prstGeom prst="rect">
            <a:avLst/>
          </a:prstGeom>
          <a:noFill/>
        </p:spPr>
        <p:txBody>
          <a:bodyPr wrap="square">
            <a:spAutoFit/>
          </a:bodyPr>
          <a:lstStyle/>
          <a:p>
            <a:pPr algn="l"/>
            <a:r>
              <a:rPr sz="1000" b="1" i="0">
                <a:solidFill>
                  <a:srgbClr val="94A3B8"/>
                </a:solidFill>
                <a:latin typeface="Calibri"/>
              </a:rPr>
              <a:t>Identity:</a:t>
            </a:r>
          </a:p>
        </p:txBody>
      </p:sp>
      <p:sp>
        <p:nvSpPr>
          <p:cNvPr id="34" name="TextBox 33"/>
          <p:cNvSpPr txBox="1"/>
          <p:nvPr/>
        </p:nvSpPr>
        <p:spPr>
          <a:xfrm>
            <a:off x="7662672" y="4480559"/>
            <a:ext cx="4114800" cy="365760"/>
          </a:xfrm>
          <a:prstGeom prst="rect">
            <a:avLst/>
          </a:prstGeom>
          <a:noFill/>
        </p:spPr>
        <p:txBody>
          <a:bodyPr wrap="square">
            <a:spAutoFit/>
          </a:bodyPr>
          <a:lstStyle/>
          <a:p>
            <a:pPr algn="l"/>
            <a:r>
              <a:rPr sz="1000" b="0" i="0">
                <a:solidFill>
                  <a:srgbClr val="F1F5F9"/>
                </a:solidFill>
                <a:latin typeface="Calibri"/>
              </a:rPr>
              <a:t>Simple admin password (MVP)</a:t>
            </a:r>
          </a:p>
        </p:txBody>
      </p:sp>
      <p:sp>
        <p:nvSpPr>
          <p:cNvPr id="35" name="TextBox 34"/>
          <p:cNvSpPr txBox="1"/>
          <p:nvPr/>
        </p:nvSpPr>
        <p:spPr>
          <a:xfrm>
            <a:off x="6428232" y="5120640"/>
            <a:ext cx="1188720" cy="365760"/>
          </a:xfrm>
          <a:prstGeom prst="rect">
            <a:avLst/>
          </a:prstGeom>
          <a:noFill/>
        </p:spPr>
        <p:txBody>
          <a:bodyPr wrap="square">
            <a:spAutoFit/>
          </a:bodyPr>
          <a:lstStyle/>
          <a:p>
            <a:pPr algn="l"/>
            <a:r>
              <a:rPr sz="1000" b="1" i="0">
                <a:solidFill>
                  <a:srgbClr val="94A3B8"/>
                </a:solidFill>
                <a:latin typeface="Calibri"/>
              </a:rPr>
              <a:t>Behavior:</a:t>
            </a:r>
          </a:p>
        </p:txBody>
      </p:sp>
      <p:sp>
        <p:nvSpPr>
          <p:cNvPr id="36" name="TextBox 35"/>
          <p:cNvSpPr txBox="1"/>
          <p:nvPr/>
        </p:nvSpPr>
        <p:spPr>
          <a:xfrm>
            <a:off x="7662672" y="5120640"/>
            <a:ext cx="4114800" cy="365760"/>
          </a:xfrm>
          <a:prstGeom prst="rect">
            <a:avLst/>
          </a:prstGeom>
          <a:noFill/>
        </p:spPr>
        <p:txBody>
          <a:bodyPr wrap="square">
            <a:spAutoFit/>
          </a:bodyPr>
          <a:lstStyle/>
          <a:p>
            <a:pPr algn="l"/>
            <a:r>
              <a:rPr sz="1000" b="0" i="0">
                <a:solidFill>
                  <a:srgbClr val="F1F5F9"/>
                </a:solidFill>
                <a:latin typeface="Calibri"/>
              </a:rPr>
              <a:t>Upload, categorize, and publish training content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837943"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728215" cy="201168"/>
          </a:xfrm>
          <a:prstGeom prst="rect">
            <a:avLst/>
          </a:prstGeom>
          <a:noFill/>
        </p:spPr>
        <p:txBody>
          <a:bodyPr wrap="square">
            <a:spAutoFit/>
          </a:bodyPr>
          <a:lstStyle/>
          <a:p>
            <a:pPr algn="l"/>
            <a:r>
              <a:rPr sz="800" b="1" i="0">
                <a:solidFill>
                  <a:srgbClr val="22C55E"/>
                </a:solidFill>
                <a:latin typeface="Calibri"/>
              </a:rPr>
              <a:t>OPERATIONAL CONTEXT</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Designed for the </a:t>
            </a:r>
            <a:r>
              <a:rPr sz="2600" b="1">
                <a:solidFill>
                  <a:srgbClr val="22C55E"/>
                </a:solidFill>
                <a:latin typeface="Calibri"/>
              </a:rPr>
              <a:t>Edge</a:t>
            </a:r>
          </a:p>
        </p:txBody>
      </p:sp>
      <p:sp>
        <p:nvSpPr>
          <p:cNvPr id="5" name="Rectangle 4"/>
          <p:cNvSpPr/>
          <p:nvPr/>
        </p:nvSpPr>
        <p:spPr>
          <a:xfrm>
            <a:off x="228600" y="1417320"/>
            <a:ext cx="3749039" cy="329184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228600" y="1417320"/>
            <a:ext cx="3749039"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11480" y="1691640"/>
            <a:ext cx="3383280" cy="365760"/>
          </a:xfrm>
          <a:prstGeom prst="rect">
            <a:avLst/>
          </a:prstGeom>
          <a:noFill/>
        </p:spPr>
        <p:txBody>
          <a:bodyPr wrap="square">
            <a:spAutoFit/>
          </a:bodyPr>
          <a:lstStyle/>
          <a:p>
            <a:pPr algn="l"/>
            <a:r>
              <a:rPr sz="1200" b="1" i="0">
                <a:solidFill>
                  <a:srgbClr val="22C55E"/>
                </a:solidFill>
                <a:latin typeface="Calibri"/>
              </a:rPr>
              <a:t>Hardware</a:t>
            </a:r>
          </a:p>
        </p:txBody>
      </p:sp>
      <p:sp>
        <p:nvSpPr>
          <p:cNvPr id="8" name="TextBox 7"/>
          <p:cNvSpPr txBox="1"/>
          <p:nvPr/>
        </p:nvSpPr>
        <p:spPr>
          <a:xfrm>
            <a:off x="411480" y="2148840"/>
            <a:ext cx="3383280" cy="502920"/>
          </a:xfrm>
          <a:prstGeom prst="rect">
            <a:avLst/>
          </a:prstGeom>
          <a:noFill/>
        </p:spPr>
        <p:txBody>
          <a:bodyPr wrap="square">
            <a:spAutoFit/>
          </a:bodyPr>
          <a:lstStyle/>
          <a:p>
            <a:pPr algn="l"/>
            <a:r>
              <a:rPr sz="1000" b="0" i="0">
                <a:solidFill>
                  <a:srgbClr val="94A3B8"/>
                </a:solidFill>
                <a:latin typeface="Calibri"/>
              </a:rPr>
              <a:t>· ~10 inch Windows tablet</a:t>
            </a:r>
          </a:p>
        </p:txBody>
      </p:sp>
      <p:sp>
        <p:nvSpPr>
          <p:cNvPr id="9" name="TextBox 8"/>
          <p:cNvSpPr txBox="1"/>
          <p:nvPr/>
        </p:nvSpPr>
        <p:spPr>
          <a:xfrm>
            <a:off x="411480" y="2697480"/>
            <a:ext cx="3383280" cy="502920"/>
          </a:xfrm>
          <a:prstGeom prst="rect">
            <a:avLst/>
          </a:prstGeom>
          <a:noFill/>
        </p:spPr>
        <p:txBody>
          <a:bodyPr wrap="square">
            <a:spAutoFit/>
          </a:bodyPr>
          <a:lstStyle/>
          <a:p>
            <a:pPr algn="l"/>
            <a:r>
              <a:rPr sz="1000" b="0" i="0">
                <a:solidFill>
                  <a:srgbClr val="94A3B8"/>
                </a:solidFill>
                <a:latin typeface="Calibri"/>
              </a:rPr>
              <a:t>· Chrome in kiosk mode</a:t>
            </a:r>
          </a:p>
        </p:txBody>
      </p:sp>
      <p:sp>
        <p:nvSpPr>
          <p:cNvPr id="10" name="TextBox 9"/>
          <p:cNvSpPr txBox="1"/>
          <p:nvPr/>
        </p:nvSpPr>
        <p:spPr>
          <a:xfrm>
            <a:off x="411480" y="3246120"/>
            <a:ext cx="3383280" cy="502920"/>
          </a:xfrm>
          <a:prstGeom prst="rect">
            <a:avLst/>
          </a:prstGeom>
          <a:noFill/>
        </p:spPr>
        <p:txBody>
          <a:bodyPr wrap="square">
            <a:spAutoFit/>
          </a:bodyPr>
          <a:lstStyle/>
          <a:p>
            <a:pPr algn="l"/>
            <a:r>
              <a:rPr sz="1000" b="0" i="0">
                <a:solidFill>
                  <a:srgbClr val="94A3B8"/>
                </a:solidFill>
                <a:latin typeface="Calibri"/>
              </a:rPr>
              <a:t>· Ruggedized computing environment</a:t>
            </a:r>
          </a:p>
        </p:txBody>
      </p:sp>
      <p:sp>
        <p:nvSpPr>
          <p:cNvPr id="11" name="TextBox 10"/>
          <p:cNvSpPr txBox="1"/>
          <p:nvPr/>
        </p:nvSpPr>
        <p:spPr>
          <a:xfrm>
            <a:off x="411480" y="3794760"/>
            <a:ext cx="3383280" cy="502920"/>
          </a:xfrm>
          <a:prstGeom prst="rect">
            <a:avLst/>
          </a:prstGeom>
          <a:noFill/>
        </p:spPr>
        <p:txBody>
          <a:bodyPr wrap="square">
            <a:spAutoFit/>
          </a:bodyPr>
          <a:lstStyle/>
          <a:p>
            <a:pPr algn="l"/>
            <a:r>
              <a:rPr sz="1000" b="0" i="0">
                <a:solidFill>
                  <a:srgbClr val="94A3B8"/>
                </a:solidFill>
                <a:latin typeface="Calibri"/>
              </a:rPr>
              <a:t>· Sometimes projected for a small team</a:t>
            </a:r>
          </a:p>
        </p:txBody>
      </p:sp>
      <p:sp>
        <p:nvSpPr>
          <p:cNvPr id="12" name="Rectangle 11"/>
          <p:cNvSpPr/>
          <p:nvPr/>
        </p:nvSpPr>
        <p:spPr>
          <a:xfrm>
            <a:off x="4224528" y="1417320"/>
            <a:ext cx="3749039" cy="329184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224528" y="1417320"/>
            <a:ext cx="3749039" cy="381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07408" y="1691640"/>
            <a:ext cx="3383280" cy="365760"/>
          </a:xfrm>
          <a:prstGeom prst="rect">
            <a:avLst/>
          </a:prstGeom>
          <a:noFill/>
        </p:spPr>
        <p:txBody>
          <a:bodyPr wrap="square">
            <a:spAutoFit/>
          </a:bodyPr>
          <a:lstStyle/>
          <a:p>
            <a:pPr algn="l"/>
            <a:r>
              <a:rPr sz="1200" b="1" i="0">
                <a:solidFill>
                  <a:srgbClr val="60A5FA"/>
                </a:solidFill>
                <a:latin typeface="Calibri"/>
              </a:rPr>
              <a:t>Runtime Stack</a:t>
            </a:r>
          </a:p>
        </p:txBody>
      </p:sp>
      <p:sp>
        <p:nvSpPr>
          <p:cNvPr id="15" name="TextBox 14"/>
          <p:cNvSpPr txBox="1"/>
          <p:nvPr/>
        </p:nvSpPr>
        <p:spPr>
          <a:xfrm>
            <a:off x="4407408" y="2148840"/>
            <a:ext cx="3383280" cy="502920"/>
          </a:xfrm>
          <a:prstGeom prst="rect">
            <a:avLst/>
          </a:prstGeom>
          <a:noFill/>
        </p:spPr>
        <p:txBody>
          <a:bodyPr wrap="square">
            <a:spAutoFit/>
          </a:bodyPr>
          <a:lstStyle/>
          <a:p>
            <a:pPr algn="l"/>
            <a:r>
              <a:rPr sz="1000" b="0" i="0">
                <a:solidFill>
                  <a:srgbClr val="94A3B8"/>
                </a:solidFill>
                <a:latin typeface="Calibri"/>
              </a:rPr>
              <a:t>· Windows host + Linux VM (WSL2)</a:t>
            </a:r>
          </a:p>
        </p:txBody>
      </p:sp>
      <p:sp>
        <p:nvSpPr>
          <p:cNvPr id="16" name="TextBox 15"/>
          <p:cNvSpPr txBox="1"/>
          <p:nvPr/>
        </p:nvSpPr>
        <p:spPr>
          <a:xfrm>
            <a:off x="4407408" y="2697480"/>
            <a:ext cx="3383280" cy="502920"/>
          </a:xfrm>
          <a:prstGeom prst="rect">
            <a:avLst/>
          </a:prstGeom>
          <a:noFill/>
        </p:spPr>
        <p:txBody>
          <a:bodyPr wrap="square">
            <a:spAutoFit/>
          </a:bodyPr>
          <a:lstStyle/>
          <a:p>
            <a:pPr algn="l"/>
            <a:r>
              <a:rPr sz="1000" b="0" i="0">
                <a:solidFill>
                  <a:srgbClr val="94A3B8"/>
                </a:solidFill>
                <a:latin typeface="Calibri"/>
              </a:rPr>
              <a:t>· Docker container running nginx</a:t>
            </a:r>
          </a:p>
        </p:txBody>
      </p:sp>
      <p:sp>
        <p:nvSpPr>
          <p:cNvPr id="17" name="TextBox 16"/>
          <p:cNvSpPr txBox="1"/>
          <p:nvPr/>
        </p:nvSpPr>
        <p:spPr>
          <a:xfrm>
            <a:off x="4407408" y="3246120"/>
            <a:ext cx="3383280" cy="502920"/>
          </a:xfrm>
          <a:prstGeom prst="rect">
            <a:avLst/>
          </a:prstGeom>
          <a:noFill/>
        </p:spPr>
        <p:txBody>
          <a:bodyPr wrap="square">
            <a:spAutoFit/>
          </a:bodyPr>
          <a:lstStyle/>
          <a:p>
            <a:pPr algn="l"/>
            <a:r>
              <a:rPr sz="1000" b="0" i="0">
                <a:solidFill>
                  <a:srgbClr val="94A3B8"/>
                </a:solidFill>
                <a:latin typeface="Calibri"/>
              </a:rPr>
              <a:t>· Edge proxy serves app at localhost:8080</a:t>
            </a:r>
          </a:p>
        </p:txBody>
      </p:sp>
      <p:sp>
        <p:nvSpPr>
          <p:cNvPr id="18" name="TextBox 17"/>
          <p:cNvSpPr txBox="1"/>
          <p:nvPr/>
        </p:nvSpPr>
        <p:spPr>
          <a:xfrm>
            <a:off x="4407408" y="3794760"/>
            <a:ext cx="3383280" cy="502920"/>
          </a:xfrm>
          <a:prstGeom prst="rect">
            <a:avLst/>
          </a:prstGeom>
          <a:noFill/>
        </p:spPr>
        <p:txBody>
          <a:bodyPr wrap="square">
            <a:spAutoFit/>
          </a:bodyPr>
          <a:lstStyle/>
          <a:p>
            <a:pPr algn="l"/>
            <a:r>
              <a:rPr sz="1000" b="0" i="0">
                <a:solidFill>
                  <a:srgbClr val="94A3B8"/>
                </a:solidFill>
                <a:latin typeface="Calibri"/>
              </a:rPr>
              <a:t>· Chrome connects only to localhost</a:t>
            </a:r>
          </a:p>
        </p:txBody>
      </p:sp>
      <p:sp>
        <p:nvSpPr>
          <p:cNvPr id="19" name="Rectangle 18"/>
          <p:cNvSpPr/>
          <p:nvPr/>
        </p:nvSpPr>
        <p:spPr>
          <a:xfrm>
            <a:off x="8229600" y="1417320"/>
            <a:ext cx="3749039" cy="329184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229600" y="1417320"/>
            <a:ext cx="3749039" cy="381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412480" y="1691640"/>
            <a:ext cx="3383280" cy="365760"/>
          </a:xfrm>
          <a:prstGeom prst="rect">
            <a:avLst/>
          </a:prstGeom>
          <a:noFill/>
        </p:spPr>
        <p:txBody>
          <a:bodyPr wrap="square">
            <a:spAutoFit/>
          </a:bodyPr>
          <a:lstStyle/>
          <a:p>
            <a:pPr algn="l"/>
            <a:r>
              <a:rPr sz="1200" b="1" i="0">
                <a:solidFill>
                  <a:srgbClr val="FB923C"/>
                </a:solidFill>
                <a:latin typeface="Calibri"/>
              </a:rPr>
              <a:t>Connectivity</a:t>
            </a:r>
          </a:p>
        </p:txBody>
      </p:sp>
      <p:sp>
        <p:nvSpPr>
          <p:cNvPr id="22" name="TextBox 21"/>
          <p:cNvSpPr txBox="1"/>
          <p:nvPr/>
        </p:nvSpPr>
        <p:spPr>
          <a:xfrm>
            <a:off x="8412480" y="2148840"/>
            <a:ext cx="3383280" cy="502920"/>
          </a:xfrm>
          <a:prstGeom prst="rect">
            <a:avLst/>
          </a:prstGeom>
          <a:noFill/>
        </p:spPr>
        <p:txBody>
          <a:bodyPr wrap="square">
            <a:spAutoFit/>
          </a:bodyPr>
          <a:lstStyle/>
          <a:p>
            <a:pPr algn="l"/>
            <a:r>
              <a:rPr sz="1000" b="0" i="0">
                <a:solidFill>
                  <a:srgbClr val="94A3B8"/>
                </a:solidFill>
                <a:latin typeface="Calibri"/>
              </a:rPr>
              <a:t>· Unstable / limited bandwidth</a:t>
            </a:r>
          </a:p>
        </p:txBody>
      </p:sp>
      <p:sp>
        <p:nvSpPr>
          <p:cNvPr id="23" name="TextBox 22"/>
          <p:cNvSpPr txBox="1"/>
          <p:nvPr/>
        </p:nvSpPr>
        <p:spPr>
          <a:xfrm>
            <a:off x="8412480" y="2697480"/>
            <a:ext cx="3383280" cy="502920"/>
          </a:xfrm>
          <a:prstGeom prst="rect">
            <a:avLst/>
          </a:prstGeom>
          <a:noFill/>
        </p:spPr>
        <p:txBody>
          <a:bodyPr wrap="square">
            <a:spAutoFit/>
          </a:bodyPr>
          <a:lstStyle/>
          <a:p>
            <a:pPr algn="l"/>
            <a:r>
              <a:rPr sz="1000" b="0" i="0">
                <a:solidFill>
                  <a:srgbClr val="94A3B8"/>
                </a:solidFill>
                <a:latin typeface="Calibri"/>
              </a:rPr>
              <a:t>· Hybrid: metadata syncs when online</a:t>
            </a:r>
          </a:p>
        </p:txBody>
      </p:sp>
      <p:sp>
        <p:nvSpPr>
          <p:cNvPr id="24" name="TextBox 23"/>
          <p:cNvSpPr txBox="1"/>
          <p:nvPr/>
        </p:nvSpPr>
        <p:spPr>
          <a:xfrm>
            <a:off x="8412480" y="3246120"/>
            <a:ext cx="3383280" cy="502920"/>
          </a:xfrm>
          <a:prstGeom prst="rect">
            <a:avLst/>
          </a:prstGeom>
          <a:noFill/>
        </p:spPr>
        <p:txBody>
          <a:bodyPr wrap="square">
            <a:spAutoFit/>
          </a:bodyPr>
          <a:lstStyle/>
          <a:p>
            <a:pPr algn="l"/>
            <a:r>
              <a:rPr sz="1000" b="0" i="0">
                <a:solidFill>
                  <a:srgbClr val="94A3B8"/>
                </a:solidFill>
                <a:latin typeface="Calibri"/>
              </a:rPr>
              <a:t>· Content fetched on demand via proxy</a:t>
            </a:r>
          </a:p>
        </p:txBody>
      </p:sp>
      <p:sp>
        <p:nvSpPr>
          <p:cNvPr id="25" name="TextBox 24"/>
          <p:cNvSpPr txBox="1"/>
          <p:nvPr/>
        </p:nvSpPr>
        <p:spPr>
          <a:xfrm>
            <a:off x="8412480" y="3794760"/>
            <a:ext cx="3383280" cy="502920"/>
          </a:xfrm>
          <a:prstGeom prst="rect">
            <a:avLst/>
          </a:prstGeom>
          <a:noFill/>
        </p:spPr>
        <p:txBody>
          <a:bodyPr wrap="square">
            <a:spAutoFit/>
          </a:bodyPr>
          <a:lstStyle/>
          <a:p>
            <a:pPr algn="l"/>
            <a:r>
              <a:rPr sz="1000" b="0" i="0">
                <a:solidFill>
                  <a:srgbClr val="94A3B8"/>
                </a:solidFill>
                <a:latin typeface="Calibri"/>
              </a:rPr>
              <a:t>· Manual download for guaranteed offline</a:t>
            </a:r>
          </a:p>
        </p:txBody>
      </p:sp>
      <p:sp>
        <p:nvSpPr>
          <p:cNvPr id="26" name="Rectangle 25"/>
          <p:cNvSpPr/>
          <p:nvPr/>
        </p:nvSpPr>
        <p:spPr>
          <a:xfrm>
            <a:off x="228600" y="4937760"/>
            <a:ext cx="11731752" cy="685800"/>
          </a:xfrm>
          <a:prstGeom prst="rect">
            <a:avLst/>
          </a:prstGeom>
          <a:solidFill>
            <a:srgbClr val="1A2438"/>
          </a:solidFill>
          <a:ln w="12700">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57200" y="5029200"/>
            <a:ext cx="11430000" cy="548640"/>
          </a:xfrm>
          <a:prstGeom prst="rect">
            <a:avLst/>
          </a:prstGeom>
          <a:noFill/>
        </p:spPr>
        <p:txBody>
          <a:bodyPr wrap="square">
            <a:spAutoFit/>
          </a:bodyPr>
          <a:lstStyle/>
          <a:p>
            <a:pPr algn="l"/>
            <a:r>
              <a:rPr sz="1000" b="0" i="0">
                <a:solidFill>
                  <a:srgbClr val="94A3B8"/>
                </a:solidFill>
                <a:latin typeface="Calibri"/>
              </a:rPr>
              <a:t>ℹ  Chrome never connects directly to the cloud — all traffic routes through the local edge proxy, which caches everything it fetches.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37160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261872" cy="201168"/>
          </a:xfrm>
          <a:prstGeom prst="rect">
            <a:avLst/>
          </a:prstGeom>
          <a:noFill/>
        </p:spPr>
        <p:txBody>
          <a:bodyPr wrap="square">
            <a:spAutoFit/>
          </a:bodyPr>
          <a:lstStyle/>
          <a:p>
            <a:pPr algn="l"/>
            <a:r>
              <a:rPr sz="800" b="1" i="0">
                <a:solidFill>
                  <a:srgbClr val="22C55E"/>
                </a:solidFill>
                <a:latin typeface="Calibri"/>
              </a:rPr>
              <a:t>CORE FLOWS</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Three Ways to Use </a:t>
            </a:r>
            <a:r>
              <a:rPr sz="2600" b="1">
                <a:solidFill>
                  <a:srgbClr val="22C55E"/>
                </a:solidFill>
                <a:latin typeface="Calibri"/>
              </a:rPr>
              <a:t>TactiTok</a:t>
            </a:r>
          </a:p>
        </p:txBody>
      </p:sp>
      <p:sp>
        <p:nvSpPr>
          <p:cNvPr id="5" name="Rectangle 4"/>
          <p:cNvSpPr/>
          <p:nvPr/>
        </p:nvSpPr>
        <p:spPr>
          <a:xfrm>
            <a:off x="228600" y="1417320"/>
            <a:ext cx="3749039" cy="502920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228600" y="1417320"/>
            <a:ext cx="3749039"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411480" y="1600200"/>
            <a:ext cx="137160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21208" y="1636776"/>
            <a:ext cx="1261872" cy="201168"/>
          </a:xfrm>
          <a:prstGeom prst="rect">
            <a:avLst/>
          </a:prstGeom>
          <a:noFill/>
        </p:spPr>
        <p:txBody>
          <a:bodyPr wrap="square">
            <a:spAutoFit/>
          </a:bodyPr>
          <a:lstStyle/>
          <a:p>
            <a:pPr algn="l"/>
            <a:r>
              <a:rPr sz="800" b="1" i="0">
                <a:solidFill>
                  <a:srgbClr val="22C55E"/>
                </a:solidFill>
                <a:latin typeface="Calibri"/>
              </a:rPr>
              <a:t>A — Reels</a:t>
            </a:r>
          </a:p>
        </p:txBody>
      </p:sp>
      <p:sp>
        <p:nvSpPr>
          <p:cNvPr id="9" name="TextBox 8"/>
          <p:cNvSpPr txBox="1"/>
          <p:nvPr/>
        </p:nvSpPr>
        <p:spPr>
          <a:xfrm>
            <a:off x="411480" y="1965960"/>
            <a:ext cx="3383280" cy="365760"/>
          </a:xfrm>
          <a:prstGeom prst="rect">
            <a:avLst/>
          </a:prstGeom>
          <a:noFill/>
        </p:spPr>
        <p:txBody>
          <a:bodyPr wrap="square">
            <a:spAutoFit/>
          </a:bodyPr>
          <a:lstStyle/>
          <a:p>
            <a:pPr algn="l"/>
            <a:r>
              <a:rPr sz="1400" b="1" i="0">
                <a:solidFill>
                  <a:srgbClr val="F1F5F9"/>
                </a:solidFill>
                <a:latin typeface="Calibri"/>
              </a:rPr>
              <a:t>Browse the Feed</a:t>
            </a:r>
          </a:p>
        </p:txBody>
      </p:sp>
      <p:sp>
        <p:nvSpPr>
          <p:cNvPr id="10" name="TextBox 9"/>
          <p:cNvSpPr txBox="1"/>
          <p:nvPr/>
        </p:nvSpPr>
        <p:spPr>
          <a:xfrm>
            <a:off x="411480" y="2423160"/>
            <a:ext cx="3383280" cy="1371600"/>
          </a:xfrm>
          <a:prstGeom prst="rect">
            <a:avLst/>
          </a:prstGeom>
          <a:noFill/>
        </p:spPr>
        <p:txBody>
          <a:bodyPr wrap="square">
            <a:spAutoFit/>
          </a:bodyPr>
          <a:lstStyle/>
          <a:p>
            <a:pPr algn="l"/>
            <a:r>
              <a:rPr sz="1000" b="0" i="0">
                <a:solidFill>
                  <a:srgbClr val="94A3B8"/>
                </a:solidFill>
                <a:latin typeface="Calibri"/>
              </a:rPr>
              <a:t>Scroll a vertical feed of short training videos (≤3 min). Videos auto-play as they scroll into view. Swipe to advance. Content filtered by selected interests.</a:t>
            </a:r>
          </a:p>
        </p:txBody>
      </p:sp>
      <p:sp>
        <p:nvSpPr>
          <p:cNvPr id="11" name="TextBox 10"/>
          <p:cNvSpPr txBox="1"/>
          <p:nvPr/>
        </p:nvSpPr>
        <p:spPr>
          <a:xfrm>
            <a:off x="411480" y="3931920"/>
            <a:ext cx="3383280" cy="457200"/>
          </a:xfrm>
          <a:prstGeom prst="rect">
            <a:avLst/>
          </a:prstGeom>
          <a:noFill/>
        </p:spPr>
        <p:txBody>
          <a:bodyPr wrap="square">
            <a:spAutoFit/>
          </a:bodyPr>
          <a:lstStyle/>
          <a:p>
            <a:pPr algn="l"/>
            <a:r>
              <a:rPr sz="1000" b="0" i="0">
                <a:solidFill>
                  <a:srgbClr val="94A3B8"/>
                </a:solidFill>
                <a:latin typeface="Calibri"/>
              </a:rPr>
              <a:t>· Interest-based filtering</a:t>
            </a:r>
          </a:p>
        </p:txBody>
      </p:sp>
      <p:sp>
        <p:nvSpPr>
          <p:cNvPr id="12" name="TextBox 11"/>
          <p:cNvSpPr txBox="1"/>
          <p:nvPr/>
        </p:nvSpPr>
        <p:spPr>
          <a:xfrm>
            <a:off x="411480" y="4434840"/>
            <a:ext cx="3383280" cy="457200"/>
          </a:xfrm>
          <a:prstGeom prst="rect">
            <a:avLst/>
          </a:prstGeom>
          <a:noFill/>
        </p:spPr>
        <p:txBody>
          <a:bodyPr wrap="square">
            <a:spAutoFit/>
          </a:bodyPr>
          <a:lstStyle/>
          <a:p>
            <a:pPr algn="l"/>
            <a:r>
              <a:rPr sz="1000" b="0" i="0">
                <a:solidFill>
                  <a:srgbClr val="94A3B8"/>
                </a:solidFill>
                <a:latin typeface="Calibri"/>
              </a:rPr>
              <a:t>· Tap to download for offline</a:t>
            </a:r>
          </a:p>
        </p:txBody>
      </p:sp>
      <p:sp>
        <p:nvSpPr>
          <p:cNvPr id="13" name="TextBox 12"/>
          <p:cNvSpPr txBox="1"/>
          <p:nvPr/>
        </p:nvSpPr>
        <p:spPr>
          <a:xfrm>
            <a:off x="411480" y="4937760"/>
            <a:ext cx="3383280" cy="457200"/>
          </a:xfrm>
          <a:prstGeom prst="rect">
            <a:avLst/>
          </a:prstGeom>
          <a:noFill/>
        </p:spPr>
        <p:txBody>
          <a:bodyPr wrap="square">
            <a:spAutoFit/>
          </a:bodyPr>
          <a:lstStyle/>
          <a:p>
            <a:pPr algn="l"/>
            <a:r>
              <a:rPr sz="1000" b="0" i="0">
                <a:solidFill>
                  <a:srgbClr val="94A3B8"/>
                </a:solidFill>
                <a:latin typeface="Calibri"/>
              </a:rPr>
              <a:t>· Like / Save stored locally</a:t>
            </a:r>
          </a:p>
        </p:txBody>
      </p:sp>
      <p:sp>
        <p:nvSpPr>
          <p:cNvPr id="14" name="Rectangle 13"/>
          <p:cNvSpPr/>
          <p:nvPr/>
        </p:nvSpPr>
        <p:spPr>
          <a:xfrm>
            <a:off x="4224528" y="1417320"/>
            <a:ext cx="3749039" cy="502920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4224528" y="1417320"/>
            <a:ext cx="3749039" cy="381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4407408" y="1600200"/>
            <a:ext cx="137160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517136" y="1636776"/>
            <a:ext cx="1261872" cy="201168"/>
          </a:xfrm>
          <a:prstGeom prst="rect">
            <a:avLst/>
          </a:prstGeom>
          <a:noFill/>
        </p:spPr>
        <p:txBody>
          <a:bodyPr wrap="square">
            <a:spAutoFit/>
          </a:bodyPr>
          <a:lstStyle/>
          <a:p>
            <a:pPr algn="l"/>
            <a:r>
              <a:rPr sz="800" b="1" i="0">
                <a:solidFill>
                  <a:srgbClr val="60A5FA"/>
                </a:solidFill>
                <a:latin typeface="Calibri"/>
              </a:rPr>
              <a:t>B — Library</a:t>
            </a:r>
          </a:p>
        </p:txBody>
      </p:sp>
      <p:sp>
        <p:nvSpPr>
          <p:cNvPr id="18" name="TextBox 17"/>
          <p:cNvSpPr txBox="1"/>
          <p:nvPr/>
        </p:nvSpPr>
        <p:spPr>
          <a:xfrm>
            <a:off x="4407408" y="1965960"/>
            <a:ext cx="3383280" cy="365760"/>
          </a:xfrm>
          <a:prstGeom prst="rect">
            <a:avLst/>
          </a:prstGeom>
          <a:noFill/>
        </p:spPr>
        <p:txBody>
          <a:bodyPr wrap="square">
            <a:spAutoFit/>
          </a:bodyPr>
          <a:lstStyle/>
          <a:p>
            <a:pPr algn="l"/>
            <a:r>
              <a:rPr sz="1400" b="1" i="0">
                <a:solidFill>
                  <a:srgbClr val="F1F5F9"/>
                </a:solidFill>
                <a:latin typeface="Calibri"/>
              </a:rPr>
              <a:t>Find in the Library</a:t>
            </a:r>
          </a:p>
        </p:txBody>
      </p:sp>
      <p:sp>
        <p:nvSpPr>
          <p:cNvPr id="19" name="TextBox 18"/>
          <p:cNvSpPr txBox="1"/>
          <p:nvPr/>
        </p:nvSpPr>
        <p:spPr>
          <a:xfrm>
            <a:off x="4407408" y="2423160"/>
            <a:ext cx="3383280" cy="1371600"/>
          </a:xfrm>
          <a:prstGeom prst="rect">
            <a:avLst/>
          </a:prstGeom>
          <a:noFill/>
        </p:spPr>
        <p:txBody>
          <a:bodyPr wrap="square">
            <a:spAutoFit/>
          </a:bodyPr>
          <a:lstStyle/>
          <a:p>
            <a:pPr algn="l"/>
            <a:r>
              <a:rPr sz="1000" b="0" i="0">
                <a:solidFill>
                  <a:srgbClr val="94A3B8"/>
                </a:solidFill>
                <a:latin typeface="Calibri"/>
              </a:rPr>
              <a:t>Navigate a 2-level category tree or search by text. Open any video or PDF directly in the browser. No external apps, no downloads required to view.</a:t>
            </a:r>
          </a:p>
        </p:txBody>
      </p:sp>
      <p:sp>
        <p:nvSpPr>
          <p:cNvPr id="20" name="TextBox 19"/>
          <p:cNvSpPr txBox="1"/>
          <p:nvPr/>
        </p:nvSpPr>
        <p:spPr>
          <a:xfrm>
            <a:off x="4407408" y="3931920"/>
            <a:ext cx="3383280" cy="457200"/>
          </a:xfrm>
          <a:prstGeom prst="rect">
            <a:avLst/>
          </a:prstGeom>
          <a:noFill/>
        </p:spPr>
        <p:txBody>
          <a:bodyPr wrap="square">
            <a:spAutoFit/>
          </a:bodyPr>
          <a:lstStyle/>
          <a:p>
            <a:pPr algn="l"/>
            <a:r>
              <a:rPr sz="1000" b="0" i="0">
                <a:solidFill>
                  <a:srgbClr val="94A3B8"/>
                </a:solidFill>
                <a:latin typeface="Calibri"/>
              </a:rPr>
              <a:t>· Category tree + text search</a:t>
            </a:r>
          </a:p>
        </p:txBody>
      </p:sp>
      <p:sp>
        <p:nvSpPr>
          <p:cNvPr id="21" name="TextBox 20"/>
          <p:cNvSpPr txBox="1"/>
          <p:nvPr/>
        </p:nvSpPr>
        <p:spPr>
          <a:xfrm>
            <a:off x="4407408" y="4434840"/>
            <a:ext cx="3383280" cy="457200"/>
          </a:xfrm>
          <a:prstGeom prst="rect">
            <a:avLst/>
          </a:prstGeom>
          <a:noFill/>
        </p:spPr>
        <p:txBody>
          <a:bodyPr wrap="square">
            <a:spAutoFit/>
          </a:bodyPr>
          <a:lstStyle/>
          <a:p>
            <a:pPr algn="l"/>
            <a:r>
              <a:rPr sz="1000" b="0" i="0">
                <a:solidFill>
                  <a:srgbClr val="94A3B8"/>
                </a:solidFill>
                <a:latin typeface="Calibri"/>
              </a:rPr>
              <a:t>· In-browser PDF viewer</a:t>
            </a:r>
          </a:p>
        </p:txBody>
      </p:sp>
      <p:sp>
        <p:nvSpPr>
          <p:cNvPr id="22" name="TextBox 21"/>
          <p:cNvSpPr txBox="1"/>
          <p:nvPr/>
        </p:nvSpPr>
        <p:spPr>
          <a:xfrm>
            <a:off x="4407408" y="4937760"/>
            <a:ext cx="3383280" cy="457200"/>
          </a:xfrm>
          <a:prstGeom prst="rect">
            <a:avLst/>
          </a:prstGeom>
          <a:noFill/>
        </p:spPr>
        <p:txBody>
          <a:bodyPr wrap="square">
            <a:spAutoFit/>
          </a:bodyPr>
          <a:lstStyle/>
          <a:p>
            <a:pPr algn="l"/>
            <a:r>
              <a:rPr sz="1000" b="0" i="0">
                <a:solidFill>
                  <a:srgbClr val="94A3B8"/>
                </a:solidFill>
                <a:latin typeface="Calibri"/>
              </a:rPr>
              <a:t>· In-browser video player</a:t>
            </a:r>
          </a:p>
        </p:txBody>
      </p:sp>
      <p:sp>
        <p:nvSpPr>
          <p:cNvPr id="23" name="Rectangle 22"/>
          <p:cNvSpPr/>
          <p:nvPr/>
        </p:nvSpPr>
        <p:spPr>
          <a:xfrm>
            <a:off x="8229600" y="1417320"/>
            <a:ext cx="3749039" cy="502920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229600" y="1417320"/>
            <a:ext cx="3749039" cy="381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8412480" y="1600200"/>
            <a:ext cx="137160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22208" y="1636776"/>
            <a:ext cx="1261872" cy="201168"/>
          </a:xfrm>
          <a:prstGeom prst="rect">
            <a:avLst/>
          </a:prstGeom>
          <a:noFill/>
        </p:spPr>
        <p:txBody>
          <a:bodyPr wrap="square">
            <a:spAutoFit/>
          </a:bodyPr>
          <a:lstStyle/>
          <a:p>
            <a:pPr algn="l"/>
            <a:r>
              <a:rPr sz="800" b="1" i="0">
                <a:solidFill>
                  <a:srgbClr val="FB923C"/>
                </a:solidFill>
                <a:latin typeface="Calibri"/>
              </a:rPr>
              <a:t>C — Admin</a:t>
            </a:r>
          </a:p>
        </p:txBody>
      </p:sp>
      <p:sp>
        <p:nvSpPr>
          <p:cNvPr id="27" name="TextBox 26"/>
          <p:cNvSpPr txBox="1"/>
          <p:nvPr/>
        </p:nvSpPr>
        <p:spPr>
          <a:xfrm>
            <a:off x="8412480" y="1965960"/>
            <a:ext cx="3383280" cy="365760"/>
          </a:xfrm>
          <a:prstGeom prst="rect">
            <a:avLst/>
          </a:prstGeom>
          <a:noFill/>
        </p:spPr>
        <p:txBody>
          <a:bodyPr wrap="square">
            <a:spAutoFit/>
          </a:bodyPr>
          <a:lstStyle/>
          <a:p>
            <a:pPr algn="l"/>
            <a:r>
              <a:rPr sz="1400" b="1" i="0">
                <a:solidFill>
                  <a:srgbClr val="F1F5F9"/>
                </a:solidFill>
                <a:latin typeface="Calibri"/>
              </a:rPr>
              <a:t>Upload &amp; Publish</a:t>
            </a:r>
          </a:p>
        </p:txBody>
      </p:sp>
      <p:sp>
        <p:nvSpPr>
          <p:cNvPr id="28" name="TextBox 27"/>
          <p:cNvSpPr txBox="1"/>
          <p:nvPr/>
        </p:nvSpPr>
        <p:spPr>
          <a:xfrm>
            <a:off x="8412480" y="2423160"/>
            <a:ext cx="3383280" cy="1371600"/>
          </a:xfrm>
          <a:prstGeom prst="rect">
            <a:avLst/>
          </a:prstGeom>
          <a:noFill/>
        </p:spPr>
        <p:txBody>
          <a:bodyPr wrap="square">
            <a:spAutoFit/>
          </a:bodyPr>
          <a:lstStyle/>
          <a:p>
            <a:pPr algn="l"/>
            <a:r>
              <a:rPr sz="1000" b="0" i="0">
                <a:solidFill>
                  <a:srgbClr val="94A3B8"/>
                </a:solidFill>
                <a:latin typeface="Calibri"/>
              </a:rPr>
              <a:t>HQ staff upload videos and PDFs via an admin portal. Assign categories and interests. Publish. Edge devices receive the updated catalog on next sync.</a:t>
            </a:r>
          </a:p>
        </p:txBody>
      </p:sp>
      <p:sp>
        <p:nvSpPr>
          <p:cNvPr id="29" name="TextBox 28"/>
          <p:cNvSpPr txBox="1"/>
          <p:nvPr/>
        </p:nvSpPr>
        <p:spPr>
          <a:xfrm>
            <a:off x="8412480" y="3931920"/>
            <a:ext cx="3383280" cy="457200"/>
          </a:xfrm>
          <a:prstGeom prst="rect">
            <a:avLst/>
          </a:prstGeom>
          <a:noFill/>
        </p:spPr>
        <p:txBody>
          <a:bodyPr wrap="square">
            <a:spAutoFit/>
          </a:bodyPr>
          <a:lstStyle/>
          <a:p>
            <a:pPr algn="l"/>
            <a:r>
              <a:rPr sz="1000" b="0" i="0">
                <a:solidFill>
                  <a:srgbClr val="94A3B8"/>
                </a:solidFill>
                <a:latin typeface="Calibri"/>
              </a:rPr>
              <a:t>· Upload video or PDF</a:t>
            </a:r>
          </a:p>
        </p:txBody>
      </p:sp>
      <p:sp>
        <p:nvSpPr>
          <p:cNvPr id="30" name="TextBox 29"/>
          <p:cNvSpPr txBox="1"/>
          <p:nvPr/>
        </p:nvSpPr>
        <p:spPr>
          <a:xfrm>
            <a:off x="8412480" y="4434840"/>
            <a:ext cx="3383280" cy="457200"/>
          </a:xfrm>
          <a:prstGeom prst="rect">
            <a:avLst/>
          </a:prstGeom>
          <a:noFill/>
        </p:spPr>
        <p:txBody>
          <a:bodyPr wrap="square">
            <a:spAutoFit/>
          </a:bodyPr>
          <a:lstStyle/>
          <a:p>
            <a:pPr algn="l"/>
            <a:r>
              <a:rPr sz="1000" b="0" i="0">
                <a:solidFill>
                  <a:srgbClr val="94A3B8"/>
                </a:solidFill>
                <a:latin typeface="Calibri"/>
              </a:rPr>
              <a:t>· Assign categories &amp; interests</a:t>
            </a:r>
          </a:p>
        </p:txBody>
      </p:sp>
      <p:sp>
        <p:nvSpPr>
          <p:cNvPr id="31" name="TextBox 30"/>
          <p:cNvSpPr txBox="1"/>
          <p:nvPr/>
        </p:nvSpPr>
        <p:spPr>
          <a:xfrm>
            <a:off x="8412480" y="4937760"/>
            <a:ext cx="3383280" cy="457200"/>
          </a:xfrm>
          <a:prstGeom prst="rect">
            <a:avLst/>
          </a:prstGeom>
          <a:noFill/>
        </p:spPr>
        <p:txBody>
          <a:bodyPr wrap="square">
            <a:spAutoFit/>
          </a:bodyPr>
          <a:lstStyle/>
          <a:p>
            <a:pPr algn="l"/>
            <a:r>
              <a:rPr sz="1000" b="0" i="0">
                <a:solidFill>
                  <a:srgbClr val="94A3B8"/>
                </a:solidFill>
                <a:latin typeface="Calibri"/>
              </a:rPr>
              <a:t>· Publish — instant catalog update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50876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399032" cy="201168"/>
          </a:xfrm>
          <a:prstGeom prst="rect">
            <a:avLst/>
          </a:prstGeom>
          <a:noFill/>
        </p:spPr>
        <p:txBody>
          <a:bodyPr wrap="square">
            <a:spAutoFit/>
          </a:bodyPr>
          <a:lstStyle/>
          <a:p>
            <a:pPr algn="l"/>
            <a:r>
              <a:rPr sz="800" b="1" i="0">
                <a:solidFill>
                  <a:srgbClr val="22C55E"/>
                </a:solidFill>
                <a:latin typeface="Calibri"/>
              </a:rPr>
              <a:t>SYSTEM OVERVIEW</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How It </a:t>
            </a:r>
            <a:r>
              <a:rPr sz="2600" b="1">
                <a:solidFill>
                  <a:srgbClr val="22C55E"/>
                </a:solidFill>
                <a:latin typeface="Calibri"/>
              </a:rPr>
              <a:t>Works</a:t>
            </a:r>
          </a:p>
        </p:txBody>
      </p:sp>
      <p:sp>
        <p:nvSpPr>
          <p:cNvPr id="5" name="Rectangle 4"/>
          <p:cNvSpPr/>
          <p:nvPr/>
        </p:nvSpPr>
        <p:spPr>
          <a:xfrm>
            <a:off x="603504" y="1554480"/>
            <a:ext cx="2121408" cy="3300984"/>
          </a:xfrm>
          <a:prstGeom prst="rect">
            <a:avLst/>
          </a:prstGeom>
          <a:solidFill>
            <a:srgbClr val="121825"/>
          </a:solidFill>
          <a:ln w="12700">
            <a:solidFill>
              <a:srgbClr val="FFD8A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2953512" y="1554480"/>
            <a:ext cx="2871216" cy="3300984"/>
          </a:xfrm>
          <a:prstGeom prst="rect">
            <a:avLst/>
          </a:prstGeom>
          <a:solidFill>
            <a:srgbClr val="121825"/>
          </a:solidFill>
          <a:ln w="12700">
            <a:solidFill>
              <a:srgbClr val="D0B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6053328" y="1554480"/>
            <a:ext cx="5495544" cy="3300984"/>
          </a:xfrm>
          <a:prstGeom prst="rect">
            <a:avLst/>
          </a:prstGeom>
          <a:solidFill>
            <a:srgbClr val="121825"/>
          </a:solidFill>
          <a:ln w="12700">
            <a:solidFill>
              <a:srgbClr val="A5D8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03504" y="1581912"/>
            <a:ext cx="2121408" cy="201168"/>
          </a:xfrm>
          <a:prstGeom prst="rect">
            <a:avLst/>
          </a:prstGeom>
          <a:noFill/>
        </p:spPr>
        <p:txBody>
          <a:bodyPr wrap="square">
            <a:spAutoFit/>
          </a:bodyPr>
          <a:lstStyle/>
          <a:p>
            <a:pPr algn="ctr"/>
            <a:r>
              <a:rPr sz="800" b="1" i="0">
                <a:solidFill>
                  <a:srgbClr val="FFD8A8"/>
                </a:solidFill>
                <a:latin typeface="Calibri"/>
              </a:rPr>
              <a:t>HQ / ADMIN</a:t>
            </a:r>
          </a:p>
        </p:txBody>
      </p:sp>
      <p:sp>
        <p:nvSpPr>
          <p:cNvPr id="9" name="TextBox 8"/>
          <p:cNvSpPr txBox="1"/>
          <p:nvPr/>
        </p:nvSpPr>
        <p:spPr>
          <a:xfrm>
            <a:off x="2953512" y="1581912"/>
            <a:ext cx="2871216" cy="201168"/>
          </a:xfrm>
          <a:prstGeom prst="rect">
            <a:avLst/>
          </a:prstGeom>
          <a:noFill/>
        </p:spPr>
        <p:txBody>
          <a:bodyPr wrap="square">
            <a:spAutoFit/>
          </a:bodyPr>
          <a:lstStyle/>
          <a:p>
            <a:pPr algn="ctr"/>
            <a:r>
              <a:rPr sz="800" b="1" i="0">
                <a:solidFill>
                  <a:srgbClr val="D0BFFF"/>
                </a:solidFill>
                <a:latin typeface="Calibri"/>
              </a:rPr>
              <a:t>CLOUD SERVER</a:t>
            </a:r>
          </a:p>
        </p:txBody>
      </p:sp>
      <p:sp>
        <p:nvSpPr>
          <p:cNvPr id="10" name="TextBox 9"/>
          <p:cNvSpPr txBox="1"/>
          <p:nvPr/>
        </p:nvSpPr>
        <p:spPr>
          <a:xfrm>
            <a:off x="6053328" y="1581912"/>
            <a:ext cx="5495544" cy="201168"/>
          </a:xfrm>
          <a:prstGeom prst="rect">
            <a:avLst/>
          </a:prstGeom>
          <a:noFill/>
        </p:spPr>
        <p:txBody>
          <a:bodyPr wrap="square">
            <a:spAutoFit/>
          </a:bodyPr>
          <a:lstStyle/>
          <a:p>
            <a:pPr algn="ctr"/>
            <a:r>
              <a:rPr sz="800" b="1" i="0">
                <a:solidFill>
                  <a:srgbClr val="A5D8FF"/>
                </a:solidFill>
                <a:latin typeface="Calibri"/>
              </a:rPr>
              <a:t>EDGE DEVICE</a:t>
            </a:r>
          </a:p>
        </p:txBody>
      </p:sp>
      <p:sp>
        <p:nvSpPr>
          <p:cNvPr id="11" name="Rounded Rectangle 10"/>
          <p:cNvSpPr/>
          <p:nvPr/>
        </p:nvSpPr>
        <p:spPr>
          <a:xfrm>
            <a:off x="731520" y="2185416"/>
            <a:ext cx="1728216" cy="667512"/>
          </a:xfrm>
          <a:prstGeom prst="roundRect">
            <a:avLst>
              <a:gd name="adj" fmla="val 4000"/>
            </a:avLst>
          </a:prstGeom>
          <a:solidFill>
            <a:srgbClr val="FFD8A8"/>
          </a:solidFill>
          <a:ln w="12700">
            <a:solidFill>
              <a:srgbClr val="CC880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2231136"/>
            <a:ext cx="1728216" cy="256032"/>
          </a:xfrm>
          <a:prstGeom prst="rect">
            <a:avLst/>
          </a:prstGeom>
          <a:noFill/>
        </p:spPr>
        <p:txBody>
          <a:bodyPr wrap="square">
            <a:spAutoFit/>
          </a:bodyPr>
          <a:lstStyle/>
          <a:p>
            <a:pPr algn="ctr"/>
            <a:r>
              <a:rPr sz="1100" b="1" i="0">
                <a:solidFill>
                  <a:srgbClr val="3D2800"/>
                </a:solidFill>
                <a:latin typeface="Calibri"/>
              </a:rPr>
              <a:t>Admin SPA</a:t>
            </a:r>
          </a:p>
        </p:txBody>
      </p:sp>
      <p:sp>
        <p:nvSpPr>
          <p:cNvPr id="13" name="TextBox 12"/>
          <p:cNvSpPr txBox="1"/>
          <p:nvPr/>
        </p:nvSpPr>
        <p:spPr>
          <a:xfrm>
            <a:off x="731520" y="2487168"/>
            <a:ext cx="1728216" cy="201168"/>
          </a:xfrm>
          <a:prstGeom prst="rect">
            <a:avLst/>
          </a:prstGeom>
          <a:noFill/>
        </p:spPr>
        <p:txBody>
          <a:bodyPr wrap="square">
            <a:spAutoFit/>
          </a:bodyPr>
          <a:lstStyle/>
          <a:p>
            <a:pPr algn="ctr"/>
            <a:r>
              <a:rPr sz="900" b="0" i="0">
                <a:solidFill>
                  <a:srgbClr val="5D4800"/>
                </a:solidFill>
                <a:latin typeface="Calibri"/>
              </a:rPr>
              <a:t>React · desktop browser</a:t>
            </a:r>
          </a:p>
        </p:txBody>
      </p:sp>
      <p:sp>
        <p:nvSpPr>
          <p:cNvPr id="14" name="Rounded Rectangle 13"/>
          <p:cNvSpPr/>
          <p:nvPr/>
        </p:nvSpPr>
        <p:spPr>
          <a:xfrm>
            <a:off x="3081528" y="2048256"/>
            <a:ext cx="2496312" cy="731520"/>
          </a:xfrm>
          <a:prstGeom prst="roundRect">
            <a:avLst>
              <a:gd name="adj" fmla="val 4000"/>
            </a:avLst>
          </a:prstGeom>
          <a:solidFill>
            <a:srgbClr val="D0BFFF"/>
          </a:solidFill>
          <a:ln w="1270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081528" y="2093976"/>
            <a:ext cx="2496312" cy="256032"/>
          </a:xfrm>
          <a:prstGeom prst="rect">
            <a:avLst/>
          </a:prstGeom>
          <a:noFill/>
        </p:spPr>
        <p:txBody>
          <a:bodyPr wrap="square">
            <a:spAutoFit/>
          </a:bodyPr>
          <a:lstStyle/>
          <a:p>
            <a:pPr algn="ctr"/>
            <a:r>
              <a:rPr sz="1100" b="1" i="0">
                <a:solidFill>
                  <a:srgbClr val="2D1B5E"/>
                </a:solidFill>
                <a:latin typeface="Calibri"/>
              </a:rPr>
              <a:t>API Server</a:t>
            </a:r>
          </a:p>
        </p:txBody>
      </p:sp>
      <p:sp>
        <p:nvSpPr>
          <p:cNvPr id="16" name="TextBox 15"/>
          <p:cNvSpPr txBox="1"/>
          <p:nvPr/>
        </p:nvSpPr>
        <p:spPr>
          <a:xfrm>
            <a:off x="3081528" y="2350008"/>
            <a:ext cx="2496312" cy="201168"/>
          </a:xfrm>
          <a:prstGeom prst="rect">
            <a:avLst/>
          </a:prstGeom>
          <a:noFill/>
        </p:spPr>
        <p:txBody>
          <a:bodyPr wrap="square">
            <a:spAutoFit/>
          </a:bodyPr>
          <a:lstStyle/>
          <a:p>
            <a:pPr algn="ctr"/>
            <a:r>
              <a:rPr sz="900" b="0" i="0" dirty="0">
                <a:solidFill>
                  <a:srgbClr val="4A2E8A"/>
                </a:solidFill>
                <a:latin typeface="Calibri"/>
              </a:rPr>
              <a:t>Node.js + Express</a:t>
            </a:r>
          </a:p>
        </p:txBody>
      </p:sp>
      <p:sp>
        <p:nvSpPr>
          <p:cNvPr id="17" name="Rounded Rectangle 16"/>
          <p:cNvSpPr/>
          <p:nvPr/>
        </p:nvSpPr>
        <p:spPr>
          <a:xfrm>
            <a:off x="3081528" y="3008376"/>
            <a:ext cx="1097280" cy="557784"/>
          </a:xfrm>
          <a:prstGeom prst="roundRect">
            <a:avLst>
              <a:gd name="adj" fmla="val 4000"/>
            </a:avLst>
          </a:prstGeom>
          <a:solidFill>
            <a:srgbClr val="C3FAE8"/>
          </a:solidFill>
          <a:ln w="12700">
            <a:solidFill>
              <a:srgbClr val="1A7A5E"/>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081528" y="3044952"/>
            <a:ext cx="1097280" cy="228600"/>
          </a:xfrm>
          <a:prstGeom prst="rect">
            <a:avLst/>
          </a:prstGeom>
          <a:noFill/>
        </p:spPr>
        <p:txBody>
          <a:bodyPr wrap="square">
            <a:spAutoFit/>
          </a:bodyPr>
          <a:lstStyle/>
          <a:p>
            <a:pPr algn="ctr"/>
            <a:r>
              <a:rPr sz="1000" b="1" i="0">
                <a:solidFill>
                  <a:srgbClr val="0D3D30"/>
                </a:solidFill>
                <a:latin typeface="Calibri"/>
              </a:rPr>
              <a:t>PostgreSQL</a:t>
            </a:r>
          </a:p>
        </p:txBody>
      </p:sp>
      <p:sp>
        <p:nvSpPr>
          <p:cNvPr id="19" name="TextBox 18"/>
          <p:cNvSpPr txBox="1"/>
          <p:nvPr/>
        </p:nvSpPr>
        <p:spPr>
          <a:xfrm>
            <a:off x="3081528" y="3273552"/>
            <a:ext cx="1097280" cy="201168"/>
          </a:xfrm>
          <a:prstGeom prst="rect">
            <a:avLst/>
          </a:prstGeom>
          <a:noFill/>
        </p:spPr>
        <p:txBody>
          <a:bodyPr wrap="square">
            <a:spAutoFit/>
          </a:bodyPr>
          <a:lstStyle/>
          <a:p>
            <a:pPr algn="ctr"/>
            <a:r>
              <a:rPr sz="800" b="0" i="0">
                <a:solidFill>
                  <a:srgbClr val="0D3D30"/>
                </a:solidFill>
                <a:latin typeface="Calibri"/>
              </a:rPr>
              <a:t>metadata</a:t>
            </a:r>
          </a:p>
        </p:txBody>
      </p:sp>
      <p:sp>
        <p:nvSpPr>
          <p:cNvPr id="20" name="Rounded Rectangle 19"/>
          <p:cNvSpPr/>
          <p:nvPr/>
        </p:nvSpPr>
        <p:spPr>
          <a:xfrm>
            <a:off x="4370832" y="3008376"/>
            <a:ext cx="1252728" cy="557784"/>
          </a:xfrm>
          <a:prstGeom prst="roundRect">
            <a:avLst>
              <a:gd name="adj" fmla="val 4000"/>
            </a:avLst>
          </a:prstGeom>
          <a:solidFill>
            <a:srgbClr val="C3FAE8"/>
          </a:solidFill>
          <a:ln w="12700">
            <a:solidFill>
              <a:srgbClr val="1A7A5E"/>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370832" y="3044952"/>
            <a:ext cx="1252728" cy="228600"/>
          </a:xfrm>
          <a:prstGeom prst="rect">
            <a:avLst/>
          </a:prstGeom>
          <a:noFill/>
        </p:spPr>
        <p:txBody>
          <a:bodyPr wrap="square">
            <a:spAutoFit/>
          </a:bodyPr>
          <a:lstStyle/>
          <a:p>
            <a:pPr algn="ctr"/>
            <a:r>
              <a:rPr sz="1000" b="1" i="0">
                <a:solidFill>
                  <a:srgbClr val="0D3D30"/>
                </a:solidFill>
                <a:latin typeface="Calibri"/>
              </a:rPr>
              <a:t>File Store</a:t>
            </a:r>
          </a:p>
        </p:txBody>
      </p:sp>
      <p:sp>
        <p:nvSpPr>
          <p:cNvPr id="22" name="TextBox 21"/>
          <p:cNvSpPr txBox="1"/>
          <p:nvPr/>
        </p:nvSpPr>
        <p:spPr>
          <a:xfrm>
            <a:off x="4370832" y="3273552"/>
            <a:ext cx="1252728" cy="201168"/>
          </a:xfrm>
          <a:prstGeom prst="rect">
            <a:avLst/>
          </a:prstGeom>
          <a:noFill/>
        </p:spPr>
        <p:txBody>
          <a:bodyPr wrap="square">
            <a:spAutoFit/>
          </a:bodyPr>
          <a:lstStyle/>
          <a:p>
            <a:pPr algn="ctr"/>
            <a:r>
              <a:rPr sz="800" b="0" i="0">
                <a:solidFill>
                  <a:srgbClr val="0D3D30"/>
                </a:solidFill>
                <a:latin typeface="Calibri"/>
              </a:rPr>
              <a:t>video + PDF</a:t>
            </a:r>
          </a:p>
        </p:txBody>
      </p:sp>
      <p:sp>
        <p:nvSpPr>
          <p:cNvPr id="23" name="Rounded Rectangle 22"/>
          <p:cNvSpPr/>
          <p:nvPr/>
        </p:nvSpPr>
        <p:spPr>
          <a:xfrm>
            <a:off x="6227064" y="2048256"/>
            <a:ext cx="2185416" cy="2231136"/>
          </a:xfrm>
          <a:prstGeom prst="roundRect">
            <a:avLst>
              <a:gd name="adj" fmla="val 4000"/>
            </a:avLst>
          </a:prstGeom>
          <a:solidFill>
            <a:srgbClr val="B2F2BB"/>
          </a:solidFill>
          <a:ln w="12700">
            <a:solidFill>
              <a:srgbClr val="2D7A3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227064" y="2084831"/>
            <a:ext cx="2185416" cy="246888"/>
          </a:xfrm>
          <a:prstGeom prst="rect">
            <a:avLst/>
          </a:prstGeom>
          <a:noFill/>
        </p:spPr>
        <p:txBody>
          <a:bodyPr wrap="square">
            <a:spAutoFit/>
          </a:bodyPr>
          <a:lstStyle/>
          <a:p>
            <a:pPr algn="ctr"/>
            <a:r>
              <a:rPr sz="1100" b="1" i="0">
                <a:solidFill>
                  <a:srgbClr val="1A3D22"/>
                </a:solidFill>
                <a:latin typeface="Calibri"/>
              </a:rPr>
              <a:t>Edge Proxy</a:t>
            </a:r>
          </a:p>
        </p:txBody>
      </p:sp>
      <p:sp>
        <p:nvSpPr>
          <p:cNvPr id="25" name="TextBox 24"/>
          <p:cNvSpPr txBox="1"/>
          <p:nvPr/>
        </p:nvSpPr>
        <p:spPr>
          <a:xfrm>
            <a:off x="6227064" y="2331720"/>
            <a:ext cx="2185416" cy="201168"/>
          </a:xfrm>
          <a:prstGeom prst="rect">
            <a:avLst/>
          </a:prstGeom>
          <a:noFill/>
        </p:spPr>
        <p:txBody>
          <a:bodyPr wrap="square">
            <a:spAutoFit/>
          </a:bodyPr>
          <a:lstStyle/>
          <a:p>
            <a:pPr algn="ctr"/>
            <a:r>
              <a:rPr sz="900" b="0" i="0">
                <a:solidFill>
                  <a:srgbClr val="2D6032"/>
                </a:solidFill>
                <a:latin typeface="Calibri"/>
              </a:rPr>
              <a:t>nginx in Docker</a:t>
            </a:r>
          </a:p>
        </p:txBody>
      </p:sp>
      <p:sp>
        <p:nvSpPr>
          <p:cNvPr id="26" name="Rectangle 25"/>
          <p:cNvSpPr/>
          <p:nvPr/>
        </p:nvSpPr>
        <p:spPr>
          <a:xfrm>
            <a:off x="6245352" y="2578608"/>
            <a:ext cx="2148840" cy="635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27064" y="2624328"/>
            <a:ext cx="2185416" cy="201168"/>
          </a:xfrm>
          <a:prstGeom prst="rect">
            <a:avLst/>
          </a:prstGeom>
          <a:noFill/>
        </p:spPr>
        <p:txBody>
          <a:bodyPr wrap="square">
            <a:spAutoFit/>
          </a:bodyPr>
          <a:lstStyle/>
          <a:p>
            <a:pPr algn="ctr"/>
            <a:r>
              <a:rPr sz="900" b="1" i="0">
                <a:solidFill>
                  <a:srgbClr val="1A3D22"/>
                </a:solidFill>
                <a:latin typeface="Calibri"/>
              </a:rPr>
              <a:t>Proxy cache</a:t>
            </a:r>
          </a:p>
        </p:txBody>
      </p:sp>
      <p:sp>
        <p:nvSpPr>
          <p:cNvPr id="28" name="TextBox 27"/>
          <p:cNvSpPr txBox="1"/>
          <p:nvPr/>
        </p:nvSpPr>
        <p:spPr>
          <a:xfrm>
            <a:off x="6227064" y="2825496"/>
            <a:ext cx="2185416" cy="201168"/>
          </a:xfrm>
          <a:prstGeom prst="rect">
            <a:avLst/>
          </a:prstGeom>
          <a:noFill/>
        </p:spPr>
        <p:txBody>
          <a:bodyPr wrap="square">
            <a:spAutoFit/>
          </a:bodyPr>
          <a:lstStyle/>
          <a:p>
            <a:pPr algn="ctr"/>
            <a:r>
              <a:rPr sz="800" b="0" i="0">
                <a:solidFill>
                  <a:srgbClr val="2D6032"/>
                </a:solidFill>
                <a:latin typeface="Calibri"/>
              </a:rPr>
              <a:t>content + metadata  ·  30-day TTL</a:t>
            </a:r>
          </a:p>
        </p:txBody>
      </p:sp>
      <p:sp>
        <p:nvSpPr>
          <p:cNvPr id="29" name="TextBox 28"/>
          <p:cNvSpPr txBox="1"/>
          <p:nvPr/>
        </p:nvSpPr>
        <p:spPr>
          <a:xfrm>
            <a:off x="6227064" y="3026664"/>
            <a:ext cx="2185416" cy="201168"/>
          </a:xfrm>
          <a:prstGeom prst="rect">
            <a:avLst/>
          </a:prstGeom>
          <a:noFill/>
        </p:spPr>
        <p:txBody>
          <a:bodyPr wrap="square">
            <a:spAutoFit/>
          </a:bodyPr>
          <a:lstStyle/>
          <a:p>
            <a:pPr algn="ctr"/>
            <a:r>
              <a:rPr sz="900" b="1" i="0">
                <a:solidFill>
                  <a:srgbClr val="1A3D22"/>
                </a:solidFill>
                <a:latin typeface="Calibri"/>
              </a:rPr>
              <a:t>Serves SPA bundle</a:t>
            </a:r>
          </a:p>
        </p:txBody>
      </p:sp>
      <p:sp>
        <p:nvSpPr>
          <p:cNvPr id="30" name="TextBox 29"/>
          <p:cNvSpPr txBox="1"/>
          <p:nvPr/>
        </p:nvSpPr>
        <p:spPr>
          <a:xfrm>
            <a:off x="6227064" y="3227832"/>
            <a:ext cx="2185416" cy="201168"/>
          </a:xfrm>
          <a:prstGeom prst="rect">
            <a:avLst/>
          </a:prstGeom>
          <a:noFill/>
        </p:spPr>
        <p:txBody>
          <a:bodyPr wrap="square">
            <a:spAutoFit/>
          </a:bodyPr>
          <a:lstStyle/>
          <a:p>
            <a:pPr algn="ctr"/>
            <a:r>
              <a:rPr sz="800" b="0" i="0">
                <a:solidFill>
                  <a:srgbClr val="2D6032"/>
                </a:solidFill>
                <a:latin typeface="Calibri"/>
              </a:rPr>
              <a:t>localhost:8080</a:t>
            </a:r>
          </a:p>
        </p:txBody>
      </p:sp>
      <p:sp>
        <p:nvSpPr>
          <p:cNvPr id="31" name="Rounded Rectangle 30"/>
          <p:cNvSpPr/>
          <p:nvPr/>
        </p:nvSpPr>
        <p:spPr>
          <a:xfrm>
            <a:off x="8796528" y="2048256"/>
            <a:ext cx="2560320" cy="2231136"/>
          </a:xfrm>
          <a:prstGeom prst="roundRect">
            <a:avLst>
              <a:gd name="adj" fmla="val 4000"/>
            </a:avLst>
          </a:prstGeom>
          <a:solidFill>
            <a:srgbClr val="A5D8FF"/>
          </a:solidFill>
          <a:ln w="12700">
            <a:solidFill>
              <a:srgbClr val="1A5E8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796528" y="2084831"/>
            <a:ext cx="2560320" cy="246888"/>
          </a:xfrm>
          <a:prstGeom prst="rect">
            <a:avLst/>
          </a:prstGeom>
          <a:noFill/>
        </p:spPr>
        <p:txBody>
          <a:bodyPr wrap="square">
            <a:spAutoFit/>
          </a:bodyPr>
          <a:lstStyle/>
          <a:p>
            <a:pPr algn="ctr"/>
            <a:r>
              <a:rPr sz="1100" b="1" i="0">
                <a:solidFill>
                  <a:srgbClr val="0D2D44"/>
                </a:solidFill>
                <a:latin typeface="Calibri"/>
              </a:rPr>
              <a:t>Chrome (kiosk)</a:t>
            </a:r>
          </a:p>
        </p:txBody>
      </p:sp>
      <p:sp>
        <p:nvSpPr>
          <p:cNvPr id="33" name="TextBox 32"/>
          <p:cNvSpPr txBox="1"/>
          <p:nvPr/>
        </p:nvSpPr>
        <p:spPr>
          <a:xfrm>
            <a:off x="8796528" y="2331720"/>
            <a:ext cx="2560320" cy="201168"/>
          </a:xfrm>
          <a:prstGeom prst="rect">
            <a:avLst/>
          </a:prstGeom>
          <a:noFill/>
        </p:spPr>
        <p:txBody>
          <a:bodyPr wrap="square">
            <a:spAutoFit/>
          </a:bodyPr>
          <a:lstStyle/>
          <a:p>
            <a:pPr algn="ctr"/>
            <a:r>
              <a:rPr sz="900" b="0" i="0">
                <a:solidFill>
                  <a:srgbClr val="1A4060"/>
                </a:solidFill>
                <a:latin typeface="Calibri"/>
              </a:rPr>
              <a:t>Edge SPA · React</a:t>
            </a:r>
          </a:p>
        </p:txBody>
      </p:sp>
      <p:sp>
        <p:nvSpPr>
          <p:cNvPr id="34" name="Rectangle 33"/>
          <p:cNvSpPr/>
          <p:nvPr/>
        </p:nvSpPr>
        <p:spPr>
          <a:xfrm>
            <a:off x="8814816" y="2578608"/>
            <a:ext cx="2523744" cy="6350"/>
          </a:xfrm>
          <a:prstGeom prst="rect">
            <a:avLst/>
          </a:prstGeom>
          <a:solidFill>
            <a:srgbClr val="1A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796528" y="2624328"/>
            <a:ext cx="2560320" cy="201168"/>
          </a:xfrm>
          <a:prstGeom prst="rect">
            <a:avLst/>
          </a:prstGeom>
          <a:noFill/>
        </p:spPr>
        <p:txBody>
          <a:bodyPr wrap="square">
            <a:spAutoFit/>
          </a:bodyPr>
          <a:lstStyle/>
          <a:p>
            <a:pPr algn="ctr"/>
            <a:r>
              <a:rPr sz="900" b="1" i="0">
                <a:solidFill>
                  <a:srgbClr val="0D2D44"/>
                </a:solidFill>
                <a:latin typeface="Calibri"/>
              </a:rPr>
              <a:t>IndexedDB</a:t>
            </a:r>
          </a:p>
        </p:txBody>
      </p:sp>
      <p:sp>
        <p:nvSpPr>
          <p:cNvPr id="36" name="TextBox 35"/>
          <p:cNvSpPr txBox="1"/>
          <p:nvPr/>
        </p:nvSpPr>
        <p:spPr>
          <a:xfrm>
            <a:off x="8796528" y="2825496"/>
            <a:ext cx="2560320" cy="201168"/>
          </a:xfrm>
          <a:prstGeom prst="rect">
            <a:avLst/>
          </a:prstGeom>
          <a:noFill/>
        </p:spPr>
        <p:txBody>
          <a:bodyPr wrap="square">
            <a:spAutoFit/>
          </a:bodyPr>
          <a:lstStyle/>
          <a:p>
            <a:pPr algn="ctr"/>
            <a:r>
              <a:rPr sz="800" b="0" i="0">
                <a:solidFill>
                  <a:srgbClr val="1A4060"/>
                </a:solidFill>
                <a:latin typeface="Calibri"/>
              </a:rPr>
              <a:t>device profile  ·  download records</a:t>
            </a:r>
          </a:p>
        </p:txBody>
      </p:sp>
      <p:sp>
        <p:nvSpPr>
          <p:cNvPr id="37" name="TextBox 36"/>
          <p:cNvSpPr txBox="1"/>
          <p:nvPr/>
        </p:nvSpPr>
        <p:spPr>
          <a:xfrm>
            <a:off x="8796528" y="3026664"/>
            <a:ext cx="2560320" cy="201168"/>
          </a:xfrm>
          <a:prstGeom prst="rect">
            <a:avLst/>
          </a:prstGeom>
          <a:noFill/>
        </p:spPr>
        <p:txBody>
          <a:bodyPr wrap="square">
            <a:spAutoFit/>
          </a:bodyPr>
          <a:lstStyle/>
          <a:p>
            <a:pPr algn="ctr"/>
            <a:r>
              <a:rPr sz="900" b="1" i="0">
                <a:solidFill>
                  <a:srgbClr val="0D2D44"/>
                </a:solidFill>
                <a:latin typeface="Calibri"/>
              </a:rPr>
              <a:t>Reels · Library · Downloads</a:t>
            </a:r>
          </a:p>
        </p:txBody>
      </p:sp>
      <p:sp>
        <p:nvSpPr>
          <p:cNvPr id="38" name="TextBox 37"/>
          <p:cNvSpPr txBox="1"/>
          <p:nvPr/>
        </p:nvSpPr>
        <p:spPr>
          <a:xfrm>
            <a:off x="8796528" y="3227832"/>
            <a:ext cx="2560320" cy="201168"/>
          </a:xfrm>
          <a:prstGeom prst="rect">
            <a:avLst/>
          </a:prstGeom>
          <a:noFill/>
        </p:spPr>
        <p:txBody>
          <a:bodyPr wrap="square">
            <a:spAutoFit/>
          </a:bodyPr>
          <a:lstStyle/>
          <a:p>
            <a:pPr algn="ctr"/>
            <a:r>
              <a:rPr sz="800" b="0" i="0">
                <a:solidFill>
                  <a:srgbClr val="1A4060"/>
                </a:solidFill>
                <a:latin typeface="Calibri"/>
              </a:rPr>
              <a:t>3 core flows  ·  PDF.js · video player</a:t>
            </a:r>
          </a:p>
        </p:txBody>
      </p:sp>
      <p:cxnSp>
        <p:nvCxnSpPr>
          <p:cNvPr id="39" name="Connector 38"/>
          <p:cNvCxnSpPr/>
          <p:nvPr/>
        </p:nvCxnSpPr>
        <p:spPr>
          <a:xfrm>
            <a:off x="2459736" y="2523744"/>
            <a:ext cx="603504" cy="0"/>
          </a:xfrm>
          <a:prstGeom prst="line">
            <a:avLst/>
          </a:prstGeom>
          <a:ln w="19050">
            <a:solidFill>
              <a:srgbClr val="FFD8A8"/>
            </a:solidFill>
            <a:headEnd type="triangle" w="sm" len="sm"/>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394960" y="2633472"/>
            <a:ext cx="813816" cy="0"/>
          </a:xfrm>
          <a:prstGeom prst="line">
            <a:avLst/>
          </a:prstGeom>
          <a:ln w="19050">
            <a:solidFill>
              <a:srgbClr val="60A5FA"/>
            </a:solidFill>
            <a:headEnd type="triangle" w="sm" len="sm"/>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412480" y="2734056"/>
            <a:ext cx="365760" cy="0"/>
          </a:xfrm>
          <a:prstGeom prst="line">
            <a:avLst/>
          </a:prstGeom>
          <a:ln w="19050">
            <a:solidFill>
              <a:srgbClr val="22C55E"/>
            </a:solidFill>
            <a:headEnd type="triangle" w="sm" len="sm"/>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606040" y="2331720"/>
            <a:ext cx="548640" cy="201168"/>
          </a:xfrm>
          <a:prstGeom prst="rect">
            <a:avLst/>
          </a:prstGeom>
          <a:noFill/>
        </p:spPr>
        <p:txBody>
          <a:bodyPr wrap="square">
            <a:spAutoFit/>
          </a:bodyPr>
          <a:lstStyle/>
          <a:p>
            <a:pPr algn="l"/>
            <a:r>
              <a:rPr sz="800" b="0" i="0">
                <a:solidFill>
                  <a:srgbClr val="94A3B8"/>
                </a:solidFill>
                <a:latin typeface="Calibri"/>
              </a:rPr>
              <a:t>HTTPS</a:t>
            </a:r>
          </a:p>
        </p:txBody>
      </p:sp>
      <p:sp>
        <p:nvSpPr>
          <p:cNvPr id="43" name="TextBox 42"/>
          <p:cNvSpPr txBox="1"/>
          <p:nvPr/>
        </p:nvSpPr>
        <p:spPr>
          <a:xfrm>
            <a:off x="5532120" y="2450592"/>
            <a:ext cx="548640" cy="201168"/>
          </a:xfrm>
          <a:prstGeom prst="rect">
            <a:avLst/>
          </a:prstGeom>
          <a:noFill/>
        </p:spPr>
        <p:txBody>
          <a:bodyPr wrap="square">
            <a:spAutoFit/>
          </a:bodyPr>
          <a:lstStyle/>
          <a:p>
            <a:pPr algn="l"/>
            <a:r>
              <a:rPr sz="800" b="0" i="0">
                <a:solidFill>
                  <a:srgbClr val="94A3B8"/>
                </a:solidFill>
                <a:latin typeface="Calibri"/>
              </a:rPr>
              <a:t>HTTPS</a:t>
            </a:r>
          </a:p>
        </p:txBody>
      </p:sp>
      <p:sp>
        <p:nvSpPr>
          <p:cNvPr id="44" name="TextBox 43"/>
          <p:cNvSpPr txBox="1"/>
          <p:nvPr/>
        </p:nvSpPr>
        <p:spPr>
          <a:xfrm>
            <a:off x="8430768" y="2542032"/>
            <a:ext cx="457200" cy="201168"/>
          </a:xfrm>
          <a:prstGeom prst="rect">
            <a:avLst/>
          </a:prstGeom>
          <a:noFill/>
        </p:spPr>
        <p:txBody>
          <a:bodyPr wrap="square">
            <a:spAutoFit/>
          </a:bodyPr>
          <a:lstStyle/>
          <a:p>
            <a:pPr algn="l"/>
            <a:r>
              <a:rPr sz="800" b="0" i="0">
                <a:solidFill>
                  <a:srgbClr val="22C55E"/>
                </a:solidFill>
                <a:latin typeface="Calibri"/>
              </a:rPr>
              <a:t>HTTP</a:t>
            </a:r>
          </a:p>
        </p:txBody>
      </p:sp>
      <p:sp>
        <p:nvSpPr>
          <p:cNvPr id="45" name="Rectangle 44"/>
          <p:cNvSpPr/>
          <p:nvPr/>
        </p:nvSpPr>
        <p:spPr>
          <a:xfrm>
            <a:off x="457200" y="4818888"/>
            <a:ext cx="137160" cy="137160"/>
          </a:xfrm>
          <a:prstGeom prst="rect">
            <a:avLst/>
          </a:prstGeom>
          <a:solidFill>
            <a:srgbClr val="FFD8A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40080" y="4800600"/>
            <a:ext cx="1463040" cy="201168"/>
          </a:xfrm>
          <a:prstGeom prst="rect">
            <a:avLst/>
          </a:prstGeom>
          <a:noFill/>
        </p:spPr>
        <p:txBody>
          <a:bodyPr wrap="square">
            <a:spAutoFit/>
          </a:bodyPr>
          <a:lstStyle/>
          <a:p>
            <a:pPr algn="l"/>
            <a:r>
              <a:rPr sz="900" b="0" i="0">
                <a:solidFill>
                  <a:srgbClr val="94A3B8"/>
                </a:solidFill>
                <a:latin typeface="Calibri"/>
              </a:rPr>
              <a:t>Admin SPA</a:t>
            </a:r>
          </a:p>
        </p:txBody>
      </p:sp>
      <p:sp>
        <p:nvSpPr>
          <p:cNvPr id="47" name="Rectangle 46"/>
          <p:cNvSpPr/>
          <p:nvPr/>
        </p:nvSpPr>
        <p:spPr>
          <a:xfrm>
            <a:off x="2011680" y="4818888"/>
            <a:ext cx="137160" cy="137160"/>
          </a:xfrm>
          <a:prstGeom prst="rect">
            <a:avLst/>
          </a:prstGeom>
          <a:solidFill>
            <a:srgbClr val="D0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2194560" y="4800600"/>
            <a:ext cx="1463040" cy="201168"/>
          </a:xfrm>
          <a:prstGeom prst="rect">
            <a:avLst/>
          </a:prstGeom>
          <a:noFill/>
        </p:spPr>
        <p:txBody>
          <a:bodyPr wrap="square">
            <a:spAutoFit/>
          </a:bodyPr>
          <a:lstStyle/>
          <a:p>
            <a:pPr algn="l"/>
            <a:r>
              <a:rPr sz="900" b="0" i="0">
                <a:solidFill>
                  <a:srgbClr val="94A3B8"/>
                </a:solidFill>
                <a:latin typeface="Calibri"/>
              </a:rPr>
              <a:t>API Server</a:t>
            </a:r>
          </a:p>
        </p:txBody>
      </p:sp>
      <p:sp>
        <p:nvSpPr>
          <p:cNvPr id="49" name="Rectangle 48"/>
          <p:cNvSpPr/>
          <p:nvPr/>
        </p:nvSpPr>
        <p:spPr>
          <a:xfrm>
            <a:off x="3566160" y="4818888"/>
            <a:ext cx="137160" cy="137160"/>
          </a:xfrm>
          <a:prstGeom prst="rect">
            <a:avLst/>
          </a:prstGeom>
          <a:solidFill>
            <a:srgbClr val="C3FAE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3749039" y="4800600"/>
            <a:ext cx="1463040" cy="201168"/>
          </a:xfrm>
          <a:prstGeom prst="rect">
            <a:avLst/>
          </a:prstGeom>
          <a:noFill/>
        </p:spPr>
        <p:txBody>
          <a:bodyPr wrap="square">
            <a:spAutoFit/>
          </a:bodyPr>
          <a:lstStyle/>
          <a:p>
            <a:pPr algn="l"/>
            <a:r>
              <a:rPr sz="900" b="0" i="0">
                <a:solidFill>
                  <a:srgbClr val="94A3B8"/>
                </a:solidFill>
                <a:latin typeface="Calibri"/>
              </a:rPr>
              <a:t>PostgreSQL / Files</a:t>
            </a:r>
          </a:p>
        </p:txBody>
      </p:sp>
      <p:sp>
        <p:nvSpPr>
          <p:cNvPr id="51" name="Rectangle 50"/>
          <p:cNvSpPr/>
          <p:nvPr/>
        </p:nvSpPr>
        <p:spPr>
          <a:xfrm>
            <a:off x="5577840" y="4818888"/>
            <a:ext cx="137160" cy="137160"/>
          </a:xfrm>
          <a:prstGeom prst="rect">
            <a:avLst/>
          </a:prstGeom>
          <a:solidFill>
            <a:srgbClr val="B2F2B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5760720" y="4800600"/>
            <a:ext cx="1463040" cy="201168"/>
          </a:xfrm>
          <a:prstGeom prst="rect">
            <a:avLst/>
          </a:prstGeom>
          <a:noFill/>
        </p:spPr>
        <p:txBody>
          <a:bodyPr wrap="square">
            <a:spAutoFit/>
          </a:bodyPr>
          <a:lstStyle/>
          <a:p>
            <a:pPr algn="l"/>
            <a:r>
              <a:rPr sz="900" b="0" i="0">
                <a:solidFill>
                  <a:srgbClr val="94A3B8"/>
                </a:solidFill>
                <a:latin typeface="Calibri"/>
              </a:rPr>
              <a:t>Edge Proxy (nginx)</a:t>
            </a:r>
          </a:p>
        </p:txBody>
      </p:sp>
      <p:sp>
        <p:nvSpPr>
          <p:cNvPr id="53" name="Rectangle 52"/>
          <p:cNvSpPr/>
          <p:nvPr/>
        </p:nvSpPr>
        <p:spPr>
          <a:xfrm>
            <a:off x="7955279" y="4818888"/>
            <a:ext cx="137160" cy="137160"/>
          </a:xfrm>
          <a:prstGeom prst="rect">
            <a:avLst/>
          </a:prstGeom>
          <a:solidFill>
            <a:srgbClr val="A5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8138159" y="4800600"/>
            <a:ext cx="1463040" cy="201168"/>
          </a:xfrm>
          <a:prstGeom prst="rect">
            <a:avLst/>
          </a:prstGeom>
          <a:noFill/>
        </p:spPr>
        <p:txBody>
          <a:bodyPr wrap="square">
            <a:spAutoFit/>
          </a:bodyPr>
          <a:lstStyle/>
          <a:p>
            <a:pPr algn="l"/>
            <a:r>
              <a:rPr sz="900" b="0" i="0">
                <a:solidFill>
                  <a:srgbClr val="94A3B8"/>
                </a:solidFill>
                <a:latin typeface="Calibri"/>
              </a:rPr>
              <a:t>Edge SPA / Chrome</a:t>
            </a:r>
          </a:p>
        </p:txBody>
      </p:sp>
      <p:sp>
        <p:nvSpPr>
          <p:cNvPr id="55" name="TextBox 54"/>
          <p:cNvSpPr txBox="1"/>
          <p:nvPr/>
        </p:nvSpPr>
        <p:spPr>
          <a:xfrm>
            <a:off x="457200" y="5074920"/>
            <a:ext cx="11247120" cy="320040"/>
          </a:xfrm>
          <a:prstGeom prst="rect">
            <a:avLst/>
          </a:prstGeom>
          <a:noFill/>
        </p:spPr>
        <p:txBody>
          <a:bodyPr wrap="square">
            <a:spAutoFit/>
          </a:bodyPr>
          <a:lstStyle/>
          <a:p>
            <a:pPr algn="l"/>
            <a:r>
              <a:rPr sz="1000" b="0" i="0">
                <a:solidFill>
                  <a:srgbClr val="94A3B8"/>
                </a:solidFill>
                <a:latin typeface="Calibri"/>
              </a:rPr>
              <a:t>Chrome never connects directly to the cloud — the edge proxy handles all routing and caching.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920239"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810511" cy="201168"/>
          </a:xfrm>
          <a:prstGeom prst="rect">
            <a:avLst/>
          </a:prstGeom>
          <a:noFill/>
        </p:spPr>
        <p:txBody>
          <a:bodyPr wrap="square">
            <a:spAutoFit/>
          </a:bodyPr>
          <a:lstStyle/>
          <a:p>
            <a:pPr algn="l"/>
            <a:r>
              <a:rPr sz="800" b="1" i="0">
                <a:solidFill>
                  <a:srgbClr val="22C55E"/>
                </a:solidFill>
                <a:latin typeface="Calibri"/>
              </a:rPr>
              <a:t>OFFLINE ARCHITECTURE</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The Offline Challenge — </a:t>
            </a:r>
            <a:r>
              <a:rPr sz="2600" b="1">
                <a:solidFill>
                  <a:srgbClr val="22C55E"/>
                </a:solidFill>
                <a:latin typeface="Calibri"/>
              </a:rPr>
              <a:t>Solved</a:t>
            </a:r>
          </a:p>
        </p:txBody>
      </p:sp>
      <p:sp>
        <p:nvSpPr>
          <p:cNvPr id="5" name="TextBox 4"/>
          <p:cNvSpPr txBox="1"/>
          <p:nvPr/>
        </p:nvSpPr>
        <p:spPr>
          <a:xfrm>
            <a:off x="384048" y="1508760"/>
            <a:ext cx="4114800" cy="256032"/>
          </a:xfrm>
          <a:prstGeom prst="rect">
            <a:avLst/>
          </a:prstGeom>
          <a:noFill/>
        </p:spPr>
        <p:txBody>
          <a:bodyPr wrap="square">
            <a:spAutoFit/>
          </a:bodyPr>
          <a:lstStyle/>
          <a:p>
            <a:pPr algn="l"/>
            <a:r>
              <a:rPr sz="900" b="1" i="0">
                <a:solidFill>
                  <a:srgbClr val="22C55E"/>
                </a:solidFill>
                <a:latin typeface="Calibri"/>
              </a:rPr>
              <a:t>PATH A — DOWNLOAD (ONLINE)</a:t>
            </a:r>
          </a:p>
        </p:txBody>
      </p:sp>
      <p:sp>
        <p:nvSpPr>
          <p:cNvPr id="6" name="TextBox 5"/>
          <p:cNvSpPr txBox="1"/>
          <p:nvPr/>
        </p:nvSpPr>
        <p:spPr>
          <a:xfrm>
            <a:off x="384048" y="2478024"/>
            <a:ext cx="4114800" cy="256032"/>
          </a:xfrm>
          <a:prstGeom prst="rect">
            <a:avLst/>
          </a:prstGeom>
          <a:noFill/>
        </p:spPr>
        <p:txBody>
          <a:bodyPr wrap="square">
            <a:spAutoFit/>
          </a:bodyPr>
          <a:lstStyle/>
          <a:p>
            <a:pPr algn="l"/>
            <a:r>
              <a:rPr sz="900" b="1" i="0">
                <a:solidFill>
                  <a:srgbClr val="60A5FA"/>
                </a:solidFill>
                <a:latin typeface="Calibri"/>
              </a:rPr>
              <a:t>PATH B — OFFLINE PLAYBACK</a:t>
            </a:r>
          </a:p>
        </p:txBody>
      </p:sp>
      <p:cxnSp>
        <p:nvCxnSpPr>
          <p:cNvPr id="7" name="Connector 6"/>
          <p:cNvCxnSpPr/>
          <p:nvPr/>
        </p:nvCxnSpPr>
        <p:spPr>
          <a:xfrm>
            <a:off x="7891272" y="1389888"/>
            <a:ext cx="0" cy="2432303"/>
          </a:xfrm>
          <a:prstGeom prst="line">
            <a:avLst/>
          </a:prstGeom>
          <a:ln w="19050">
            <a:solidFill>
              <a:srgbClr val="475569"/>
            </a:solidFill>
            <a:headEnd type="triangle" w="sm" len="sm"/>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909560" y="1417320"/>
            <a:ext cx="731520" cy="201168"/>
          </a:xfrm>
          <a:prstGeom prst="rect">
            <a:avLst/>
          </a:prstGeom>
          <a:noFill/>
        </p:spPr>
        <p:txBody>
          <a:bodyPr wrap="square">
            <a:spAutoFit/>
          </a:bodyPr>
          <a:lstStyle/>
          <a:p>
            <a:pPr algn="l"/>
            <a:r>
              <a:rPr sz="800" b="0" i="0">
                <a:solidFill>
                  <a:srgbClr val="475569"/>
                </a:solidFill>
                <a:latin typeface="Calibri"/>
              </a:rPr>
              <a:t>cloud</a:t>
            </a:r>
          </a:p>
        </p:txBody>
      </p:sp>
      <p:sp>
        <p:nvSpPr>
          <p:cNvPr id="9" name="TextBox 8"/>
          <p:cNvSpPr txBox="1"/>
          <p:nvPr/>
        </p:nvSpPr>
        <p:spPr>
          <a:xfrm>
            <a:off x="6949440" y="1417320"/>
            <a:ext cx="868680" cy="201168"/>
          </a:xfrm>
          <a:prstGeom prst="rect">
            <a:avLst/>
          </a:prstGeom>
          <a:noFill/>
        </p:spPr>
        <p:txBody>
          <a:bodyPr wrap="square">
            <a:spAutoFit/>
          </a:bodyPr>
          <a:lstStyle/>
          <a:p>
            <a:pPr algn="r"/>
            <a:r>
              <a:rPr sz="800" b="0" i="0">
                <a:solidFill>
                  <a:srgbClr val="475569"/>
                </a:solidFill>
                <a:latin typeface="Calibri"/>
              </a:rPr>
              <a:t>device-local</a:t>
            </a:r>
          </a:p>
        </p:txBody>
      </p:sp>
      <p:sp>
        <p:nvSpPr>
          <p:cNvPr id="10" name="Rectangle 9"/>
          <p:cNvSpPr/>
          <p:nvPr/>
        </p:nvSpPr>
        <p:spPr>
          <a:xfrm>
            <a:off x="557784" y="1618488"/>
            <a:ext cx="1810512" cy="502920"/>
          </a:xfrm>
          <a:prstGeom prst="rect">
            <a:avLst/>
          </a:prstGeom>
          <a:solidFill>
            <a:srgbClr val="0F1A2E"/>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57784" y="1709928"/>
            <a:ext cx="1810512" cy="320040"/>
          </a:xfrm>
          <a:prstGeom prst="rect">
            <a:avLst/>
          </a:prstGeom>
          <a:noFill/>
        </p:spPr>
        <p:txBody>
          <a:bodyPr wrap="square">
            <a:spAutoFit/>
          </a:bodyPr>
          <a:lstStyle/>
          <a:p>
            <a:pPr algn="ctr"/>
            <a:r>
              <a:rPr sz="1000" b="1" i="0">
                <a:solidFill>
                  <a:srgbClr val="22C55E"/>
                </a:solidFill>
                <a:latin typeface="Calibri"/>
              </a:rPr>
              <a:t>User taps Download</a:t>
            </a:r>
          </a:p>
        </p:txBody>
      </p:sp>
      <p:sp>
        <p:nvSpPr>
          <p:cNvPr id="12" name="Rectangle 11"/>
          <p:cNvSpPr/>
          <p:nvPr/>
        </p:nvSpPr>
        <p:spPr>
          <a:xfrm>
            <a:off x="2990088" y="1618488"/>
            <a:ext cx="2020824" cy="1563624"/>
          </a:xfrm>
          <a:prstGeom prst="rect">
            <a:avLst/>
          </a:prstGeom>
          <a:solidFill>
            <a:srgbClr val="B2F2BB"/>
          </a:solidFill>
          <a:ln w="19050">
            <a:solidFill>
              <a:srgbClr val="2D7A3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990088" y="1664208"/>
            <a:ext cx="2020824" cy="246888"/>
          </a:xfrm>
          <a:prstGeom prst="rect">
            <a:avLst/>
          </a:prstGeom>
          <a:noFill/>
        </p:spPr>
        <p:txBody>
          <a:bodyPr wrap="square">
            <a:spAutoFit/>
          </a:bodyPr>
          <a:lstStyle/>
          <a:p>
            <a:pPr algn="ctr"/>
            <a:r>
              <a:rPr sz="1100" b="1" i="0">
                <a:solidFill>
                  <a:srgbClr val="1A3D22"/>
                </a:solidFill>
                <a:latin typeface="Calibri"/>
              </a:rPr>
              <a:t>Edge Proxy</a:t>
            </a:r>
          </a:p>
        </p:txBody>
      </p:sp>
      <p:sp>
        <p:nvSpPr>
          <p:cNvPr id="14" name="TextBox 13"/>
          <p:cNvSpPr txBox="1"/>
          <p:nvPr/>
        </p:nvSpPr>
        <p:spPr>
          <a:xfrm>
            <a:off x="2990088" y="1911095"/>
            <a:ext cx="2020824" cy="201168"/>
          </a:xfrm>
          <a:prstGeom prst="rect">
            <a:avLst/>
          </a:prstGeom>
          <a:noFill/>
        </p:spPr>
        <p:txBody>
          <a:bodyPr wrap="square">
            <a:spAutoFit/>
          </a:bodyPr>
          <a:lstStyle/>
          <a:p>
            <a:pPr algn="ctr"/>
            <a:r>
              <a:rPr sz="900" b="0" i="0">
                <a:solidFill>
                  <a:srgbClr val="2D6032"/>
                </a:solidFill>
                <a:latin typeface="Calibri"/>
              </a:rPr>
              <a:t>nginx (Docker)</a:t>
            </a:r>
          </a:p>
        </p:txBody>
      </p:sp>
      <p:sp>
        <p:nvSpPr>
          <p:cNvPr id="15" name="Rectangle 14"/>
          <p:cNvSpPr/>
          <p:nvPr/>
        </p:nvSpPr>
        <p:spPr>
          <a:xfrm>
            <a:off x="3008376" y="2139696"/>
            <a:ext cx="1984248" cy="635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2990088" y="2176272"/>
            <a:ext cx="2020824" cy="201168"/>
          </a:xfrm>
          <a:prstGeom prst="rect">
            <a:avLst/>
          </a:prstGeom>
          <a:noFill/>
        </p:spPr>
        <p:txBody>
          <a:bodyPr wrap="square">
            <a:spAutoFit/>
          </a:bodyPr>
          <a:lstStyle/>
          <a:p>
            <a:pPr algn="ctr"/>
            <a:r>
              <a:rPr sz="900" b="1" i="0">
                <a:solidFill>
                  <a:srgbClr val="1A3D22"/>
                </a:solidFill>
                <a:latin typeface="Calibri"/>
              </a:rPr>
              <a:t>Online: fetch &amp; cache</a:t>
            </a:r>
          </a:p>
        </p:txBody>
      </p:sp>
      <p:sp>
        <p:nvSpPr>
          <p:cNvPr id="17" name="TextBox 16"/>
          <p:cNvSpPr txBox="1"/>
          <p:nvPr/>
        </p:nvSpPr>
        <p:spPr>
          <a:xfrm>
            <a:off x="2990088" y="2377440"/>
            <a:ext cx="2020824" cy="201168"/>
          </a:xfrm>
          <a:prstGeom prst="rect">
            <a:avLst/>
          </a:prstGeom>
          <a:noFill/>
        </p:spPr>
        <p:txBody>
          <a:bodyPr wrap="square">
            <a:spAutoFit/>
          </a:bodyPr>
          <a:lstStyle/>
          <a:p>
            <a:pPr algn="ctr"/>
            <a:r>
              <a:rPr sz="900" b="1" i="0">
                <a:solidFill>
                  <a:srgbClr val="1A3D22"/>
                </a:solidFill>
                <a:latin typeface="Calibri"/>
              </a:rPr>
              <a:t>Offline: serve STALE</a:t>
            </a:r>
          </a:p>
        </p:txBody>
      </p:sp>
      <p:sp>
        <p:nvSpPr>
          <p:cNvPr id="18" name="TextBox 17"/>
          <p:cNvSpPr txBox="1"/>
          <p:nvPr/>
        </p:nvSpPr>
        <p:spPr>
          <a:xfrm>
            <a:off x="2990088" y="2578608"/>
            <a:ext cx="2020824" cy="201168"/>
          </a:xfrm>
          <a:prstGeom prst="rect">
            <a:avLst/>
          </a:prstGeom>
          <a:noFill/>
        </p:spPr>
        <p:txBody>
          <a:bodyPr wrap="square">
            <a:spAutoFit/>
          </a:bodyPr>
          <a:lstStyle/>
          <a:p>
            <a:pPr algn="ctr"/>
            <a:r>
              <a:rPr sz="800" b="0" i="0">
                <a:solidFill>
                  <a:srgbClr val="2D6032"/>
                </a:solidFill>
                <a:latin typeface="Calibri"/>
              </a:rPr>
              <a:t>X-Cache-Status header</a:t>
            </a:r>
          </a:p>
        </p:txBody>
      </p:sp>
      <p:sp>
        <p:nvSpPr>
          <p:cNvPr id="19" name="Rectangle 18"/>
          <p:cNvSpPr/>
          <p:nvPr/>
        </p:nvSpPr>
        <p:spPr>
          <a:xfrm>
            <a:off x="7635240" y="1618488"/>
            <a:ext cx="1810512" cy="502920"/>
          </a:xfrm>
          <a:prstGeom prst="rect">
            <a:avLst/>
          </a:prstGeom>
          <a:solidFill>
            <a:srgbClr val="D0BFFF"/>
          </a:solidFill>
          <a:ln w="1905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635240" y="1664208"/>
            <a:ext cx="1810512" cy="228600"/>
          </a:xfrm>
          <a:prstGeom prst="rect">
            <a:avLst/>
          </a:prstGeom>
          <a:noFill/>
        </p:spPr>
        <p:txBody>
          <a:bodyPr wrap="square">
            <a:spAutoFit/>
          </a:bodyPr>
          <a:lstStyle/>
          <a:p>
            <a:pPr algn="ctr"/>
            <a:r>
              <a:rPr sz="1000" b="1" i="0">
                <a:solidFill>
                  <a:srgbClr val="2D1B5E"/>
                </a:solidFill>
                <a:latin typeface="Calibri"/>
              </a:rPr>
              <a:t>Cloud Server</a:t>
            </a:r>
          </a:p>
        </p:txBody>
      </p:sp>
      <p:sp>
        <p:nvSpPr>
          <p:cNvPr id="21" name="TextBox 20"/>
          <p:cNvSpPr txBox="1"/>
          <p:nvPr/>
        </p:nvSpPr>
        <p:spPr>
          <a:xfrm>
            <a:off x="7635240" y="1892807"/>
            <a:ext cx="1810512" cy="201168"/>
          </a:xfrm>
          <a:prstGeom prst="rect">
            <a:avLst/>
          </a:prstGeom>
          <a:noFill/>
        </p:spPr>
        <p:txBody>
          <a:bodyPr wrap="square">
            <a:spAutoFit/>
          </a:bodyPr>
          <a:lstStyle/>
          <a:p>
            <a:pPr algn="ctr"/>
            <a:r>
              <a:rPr sz="900" b="0" i="0">
                <a:solidFill>
                  <a:srgbClr val="4A2E8A"/>
                </a:solidFill>
                <a:latin typeface="Calibri"/>
              </a:rPr>
              <a:t>API + File Store</a:t>
            </a:r>
          </a:p>
        </p:txBody>
      </p:sp>
      <p:sp>
        <p:nvSpPr>
          <p:cNvPr id="22" name="Rectangle 21"/>
          <p:cNvSpPr/>
          <p:nvPr/>
        </p:nvSpPr>
        <p:spPr>
          <a:xfrm>
            <a:off x="9619488" y="1618488"/>
            <a:ext cx="1645920" cy="502920"/>
          </a:xfrm>
          <a:prstGeom prst="rect">
            <a:avLst/>
          </a:prstGeom>
          <a:solidFill>
            <a:srgbClr val="A5D8FF"/>
          </a:solidFill>
          <a:ln w="19050">
            <a:solidFill>
              <a:srgbClr val="1A5E8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619488" y="1664208"/>
            <a:ext cx="1645920" cy="228600"/>
          </a:xfrm>
          <a:prstGeom prst="rect">
            <a:avLst/>
          </a:prstGeom>
          <a:noFill/>
        </p:spPr>
        <p:txBody>
          <a:bodyPr wrap="square">
            <a:spAutoFit/>
          </a:bodyPr>
          <a:lstStyle/>
          <a:p>
            <a:pPr algn="ctr"/>
            <a:r>
              <a:rPr sz="1000" b="1" i="0">
                <a:solidFill>
                  <a:srgbClr val="0D2D44"/>
                </a:solidFill>
                <a:latin typeface="Calibri"/>
              </a:rPr>
              <a:t>IndexedDB</a:t>
            </a:r>
          </a:p>
        </p:txBody>
      </p:sp>
      <p:sp>
        <p:nvSpPr>
          <p:cNvPr id="24" name="TextBox 23"/>
          <p:cNvSpPr txBox="1"/>
          <p:nvPr/>
        </p:nvSpPr>
        <p:spPr>
          <a:xfrm>
            <a:off x="9619488" y="1892807"/>
            <a:ext cx="1645920" cy="201168"/>
          </a:xfrm>
          <a:prstGeom prst="rect">
            <a:avLst/>
          </a:prstGeom>
          <a:noFill/>
        </p:spPr>
        <p:txBody>
          <a:bodyPr wrap="square">
            <a:spAutoFit/>
          </a:bodyPr>
          <a:lstStyle/>
          <a:p>
            <a:pPr algn="ctr"/>
            <a:r>
              <a:rPr sz="900" b="0" i="0">
                <a:solidFill>
                  <a:srgbClr val="1A4060"/>
                </a:solidFill>
                <a:latin typeface="Calibri"/>
              </a:rPr>
              <a:t>record written</a:t>
            </a:r>
          </a:p>
        </p:txBody>
      </p:sp>
      <p:sp>
        <p:nvSpPr>
          <p:cNvPr id="25" name="Rectangle 24"/>
          <p:cNvSpPr/>
          <p:nvPr/>
        </p:nvSpPr>
        <p:spPr>
          <a:xfrm>
            <a:off x="557784" y="2788920"/>
            <a:ext cx="1810512" cy="502920"/>
          </a:xfrm>
          <a:prstGeom prst="rect">
            <a:avLst/>
          </a:prstGeom>
          <a:solidFill>
            <a:srgbClr val="0F1A2E"/>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57784" y="2880360"/>
            <a:ext cx="1810512" cy="320040"/>
          </a:xfrm>
          <a:prstGeom prst="rect">
            <a:avLst/>
          </a:prstGeom>
          <a:noFill/>
        </p:spPr>
        <p:txBody>
          <a:bodyPr wrap="square">
            <a:spAutoFit/>
          </a:bodyPr>
          <a:lstStyle/>
          <a:p>
            <a:pPr algn="ctr"/>
            <a:r>
              <a:rPr sz="1000" b="1" i="0">
                <a:solidFill>
                  <a:srgbClr val="60A5FA"/>
                </a:solidFill>
                <a:latin typeface="Calibri"/>
              </a:rPr>
              <a:t>User opens item (offline)</a:t>
            </a:r>
          </a:p>
        </p:txBody>
      </p:sp>
      <p:sp>
        <p:nvSpPr>
          <p:cNvPr id="27" name="Rectangle 26"/>
          <p:cNvSpPr/>
          <p:nvPr/>
        </p:nvSpPr>
        <p:spPr>
          <a:xfrm>
            <a:off x="7141464" y="2788920"/>
            <a:ext cx="1810512" cy="502920"/>
          </a:xfrm>
          <a:prstGeom prst="rect">
            <a:avLst/>
          </a:prstGeom>
          <a:solidFill>
            <a:srgbClr val="A5D8FF"/>
          </a:solidFill>
          <a:ln w="19050">
            <a:solidFill>
              <a:srgbClr val="1A5E8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141464" y="2880360"/>
            <a:ext cx="1810512" cy="320040"/>
          </a:xfrm>
          <a:prstGeom prst="rect">
            <a:avLst/>
          </a:prstGeom>
          <a:noFill/>
        </p:spPr>
        <p:txBody>
          <a:bodyPr wrap="square">
            <a:spAutoFit/>
          </a:bodyPr>
          <a:lstStyle/>
          <a:p>
            <a:pPr algn="ctr"/>
            <a:r>
              <a:rPr sz="1000" b="1" i="0">
                <a:solidFill>
                  <a:srgbClr val="0D2D44"/>
                </a:solidFill>
                <a:latin typeface="Calibri"/>
              </a:rPr>
              <a:t>Chrome plays content</a:t>
            </a:r>
          </a:p>
        </p:txBody>
      </p:sp>
      <p:cxnSp>
        <p:nvCxnSpPr>
          <p:cNvPr id="29" name="Connector 28"/>
          <p:cNvCxnSpPr/>
          <p:nvPr/>
        </p:nvCxnSpPr>
        <p:spPr>
          <a:xfrm>
            <a:off x="2368296" y="1865376"/>
            <a:ext cx="603504" cy="0"/>
          </a:xfrm>
          <a:prstGeom prst="line">
            <a:avLst/>
          </a:prstGeom>
          <a:ln w="19050">
            <a:solidFill>
              <a:srgbClr val="22C55E"/>
            </a:solidFill>
            <a:head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010912" y="1865376"/>
            <a:ext cx="2606040" cy="0"/>
          </a:xfrm>
          <a:prstGeom prst="line">
            <a:avLst/>
          </a:prstGeom>
          <a:ln w="19050">
            <a:solidFill>
              <a:srgbClr val="60A5FA"/>
            </a:solidFill>
            <a:headEnd type="triangle" w="sm" len="sm"/>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445752" y="1865376"/>
            <a:ext cx="155448" cy="0"/>
          </a:xfrm>
          <a:prstGeom prst="line">
            <a:avLst/>
          </a:prstGeom>
          <a:ln w="19050">
            <a:solidFill>
              <a:srgbClr val="22C55E"/>
            </a:solidFill>
            <a:headEnd type="triangle" w="sm" len="sm"/>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368296" y="3035808"/>
            <a:ext cx="603504" cy="0"/>
          </a:xfrm>
          <a:prstGeom prst="line">
            <a:avLst/>
          </a:prstGeom>
          <a:ln w="19050">
            <a:solidFill>
              <a:srgbClr val="60A5FA"/>
            </a:solidFill>
            <a:headEnd type="triangle" w="sm" len="sm"/>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10912" y="3035808"/>
            <a:ext cx="2112264" cy="0"/>
          </a:xfrm>
          <a:prstGeom prst="line">
            <a:avLst/>
          </a:prstGeom>
          <a:ln w="19050">
            <a:solidFill>
              <a:srgbClr val="22C55E"/>
            </a:solidFill>
            <a:headEnd type="triangle" w="sm" len="sm"/>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394960" y="1709928"/>
            <a:ext cx="2103120" cy="201168"/>
          </a:xfrm>
          <a:prstGeom prst="rect">
            <a:avLst/>
          </a:prstGeom>
          <a:noFill/>
        </p:spPr>
        <p:txBody>
          <a:bodyPr wrap="square">
            <a:spAutoFit/>
          </a:bodyPr>
          <a:lstStyle/>
          <a:p>
            <a:pPr algn="l"/>
            <a:r>
              <a:rPr sz="800" b="0" i="0">
                <a:solidFill>
                  <a:srgbClr val="60A5FA"/>
                </a:solidFill>
                <a:latin typeface="Calibri"/>
              </a:rPr>
              <a:t>fetches &amp; caches full file</a:t>
            </a:r>
          </a:p>
        </p:txBody>
      </p:sp>
      <p:sp>
        <p:nvSpPr>
          <p:cNvPr id="35" name="TextBox 34"/>
          <p:cNvSpPr txBox="1"/>
          <p:nvPr/>
        </p:nvSpPr>
        <p:spPr>
          <a:xfrm>
            <a:off x="9646920" y="1709928"/>
            <a:ext cx="1188720" cy="201168"/>
          </a:xfrm>
          <a:prstGeom prst="rect">
            <a:avLst/>
          </a:prstGeom>
          <a:noFill/>
        </p:spPr>
        <p:txBody>
          <a:bodyPr wrap="square">
            <a:spAutoFit/>
          </a:bodyPr>
          <a:lstStyle/>
          <a:p>
            <a:pPr algn="l"/>
            <a:r>
              <a:rPr sz="800" b="0" i="0">
                <a:solidFill>
                  <a:srgbClr val="22C55E"/>
                </a:solidFill>
                <a:latin typeface="Calibri"/>
              </a:rPr>
              <a:t>file cached</a:t>
            </a:r>
          </a:p>
        </p:txBody>
      </p:sp>
      <p:sp>
        <p:nvSpPr>
          <p:cNvPr id="36" name="TextBox 35"/>
          <p:cNvSpPr txBox="1"/>
          <p:nvPr/>
        </p:nvSpPr>
        <p:spPr>
          <a:xfrm>
            <a:off x="5394960" y="2880360"/>
            <a:ext cx="1371600" cy="201168"/>
          </a:xfrm>
          <a:prstGeom prst="rect">
            <a:avLst/>
          </a:prstGeom>
          <a:noFill/>
        </p:spPr>
        <p:txBody>
          <a:bodyPr wrap="square">
            <a:spAutoFit/>
          </a:bodyPr>
          <a:lstStyle/>
          <a:p>
            <a:pPr algn="l"/>
            <a:r>
              <a:rPr sz="800" b="0" i="0">
                <a:solidFill>
                  <a:srgbClr val="94A3B8"/>
                </a:solidFill>
                <a:latin typeface="Calibri"/>
              </a:rPr>
              <a:t>no cloud needed</a:t>
            </a:r>
          </a:p>
        </p:txBody>
      </p:sp>
      <p:sp>
        <p:nvSpPr>
          <p:cNvPr id="37" name="Rectangle 36"/>
          <p:cNvSpPr/>
          <p:nvPr/>
        </p:nvSpPr>
        <p:spPr>
          <a:xfrm>
            <a:off x="228600" y="3977639"/>
            <a:ext cx="3749039" cy="256032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228600" y="3977639"/>
            <a:ext cx="3749039"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411480" y="4206239"/>
            <a:ext cx="3474719" cy="320040"/>
          </a:xfrm>
          <a:prstGeom prst="rect">
            <a:avLst/>
          </a:prstGeom>
          <a:noFill/>
        </p:spPr>
        <p:txBody>
          <a:bodyPr wrap="square">
            <a:spAutoFit/>
          </a:bodyPr>
          <a:lstStyle/>
          <a:p>
            <a:pPr algn="l"/>
            <a:r>
              <a:rPr sz="1200" b="1" i="0">
                <a:solidFill>
                  <a:srgbClr val="F1F5F9"/>
                </a:solidFill>
                <a:latin typeface="Calibri"/>
              </a:rPr>
              <a:t>Smart Proxy Cache</a:t>
            </a:r>
          </a:p>
        </p:txBody>
      </p:sp>
      <p:sp>
        <p:nvSpPr>
          <p:cNvPr id="40" name="TextBox 39"/>
          <p:cNvSpPr txBox="1"/>
          <p:nvPr/>
        </p:nvSpPr>
        <p:spPr>
          <a:xfrm>
            <a:off x="411480" y="4526279"/>
            <a:ext cx="3474719" cy="1920240"/>
          </a:xfrm>
          <a:prstGeom prst="rect">
            <a:avLst/>
          </a:prstGeom>
          <a:noFill/>
        </p:spPr>
        <p:txBody>
          <a:bodyPr wrap="square">
            <a:spAutoFit/>
          </a:bodyPr>
          <a:lstStyle/>
          <a:p>
            <a:pPr algn="l"/>
            <a:r>
              <a:rPr sz="1000" b="0" i="0">
                <a:solidFill>
                  <a:srgbClr val="94A3B8"/>
                </a:solidFill>
                <a:latin typeface="Calibri"/>
              </a:rPr>
              <a:t>nginx caches every file it fetches. Up to 10 GB stored on the device, 30-day TTL. Downloads trigger a full cache load automatically.</a:t>
            </a:r>
          </a:p>
        </p:txBody>
      </p:sp>
      <p:sp>
        <p:nvSpPr>
          <p:cNvPr id="41" name="Rectangle 40"/>
          <p:cNvSpPr/>
          <p:nvPr/>
        </p:nvSpPr>
        <p:spPr>
          <a:xfrm>
            <a:off x="4224528" y="3977639"/>
            <a:ext cx="3749039" cy="256032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4224528" y="3977639"/>
            <a:ext cx="3749039" cy="381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4407408" y="4206239"/>
            <a:ext cx="3474719" cy="320040"/>
          </a:xfrm>
          <a:prstGeom prst="rect">
            <a:avLst/>
          </a:prstGeom>
          <a:noFill/>
        </p:spPr>
        <p:txBody>
          <a:bodyPr wrap="square">
            <a:spAutoFit/>
          </a:bodyPr>
          <a:lstStyle/>
          <a:p>
            <a:pPr algn="l"/>
            <a:r>
              <a:rPr sz="1200" b="1" i="0">
                <a:solidFill>
                  <a:srgbClr val="F1F5F9"/>
                </a:solidFill>
                <a:latin typeface="Calibri"/>
              </a:rPr>
              <a:t>Transparent Offline</a:t>
            </a:r>
          </a:p>
        </p:txBody>
      </p:sp>
      <p:sp>
        <p:nvSpPr>
          <p:cNvPr id="44" name="TextBox 43"/>
          <p:cNvSpPr txBox="1"/>
          <p:nvPr/>
        </p:nvSpPr>
        <p:spPr>
          <a:xfrm>
            <a:off x="4407408" y="4526279"/>
            <a:ext cx="3474719" cy="1920240"/>
          </a:xfrm>
          <a:prstGeom prst="rect">
            <a:avLst/>
          </a:prstGeom>
          <a:noFill/>
        </p:spPr>
        <p:txBody>
          <a:bodyPr wrap="square">
            <a:spAutoFit/>
          </a:bodyPr>
          <a:lstStyle/>
          <a:p>
            <a:pPr algn="l"/>
            <a:r>
              <a:rPr sz="1000" b="0" i="0">
                <a:solidFill>
                  <a:srgbClr val="94A3B8"/>
                </a:solidFill>
                <a:latin typeface="Calibri"/>
              </a:rPr>
              <a:t>The SPA code is identical online and offline. No Service Worker, no offline-specific code. Proxy serves stale cache; SPA reads an HTTP header to show the offline indicator.</a:t>
            </a:r>
          </a:p>
        </p:txBody>
      </p:sp>
      <p:sp>
        <p:nvSpPr>
          <p:cNvPr id="45" name="Rectangle 44"/>
          <p:cNvSpPr/>
          <p:nvPr/>
        </p:nvSpPr>
        <p:spPr>
          <a:xfrm>
            <a:off x="8229600" y="3977639"/>
            <a:ext cx="3749039" cy="256032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8229600" y="3977639"/>
            <a:ext cx="3749039" cy="381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412480" y="4206239"/>
            <a:ext cx="3474719" cy="320040"/>
          </a:xfrm>
          <a:prstGeom prst="rect">
            <a:avLst/>
          </a:prstGeom>
          <a:noFill/>
        </p:spPr>
        <p:txBody>
          <a:bodyPr wrap="square">
            <a:spAutoFit/>
          </a:bodyPr>
          <a:lstStyle/>
          <a:p>
            <a:pPr algn="l"/>
            <a:r>
              <a:rPr sz="1200" b="1" i="0">
                <a:solidFill>
                  <a:srgbClr val="F1F5F9"/>
                </a:solidFill>
                <a:latin typeface="Calibri"/>
              </a:rPr>
              <a:t>Manual Download</a:t>
            </a:r>
          </a:p>
        </p:txBody>
      </p:sp>
      <p:sp>
        <p:nvSpPr>
          <p:cNvPr id="48" name="TextBox 47"/>
          <p:cNvSpPr txBox="1"/>
          <p:nvPr/>
        </p:nvSpPr>
        <p:spPr>
          <a:xfrm>
            <a:off x="8412480" y="4526279"/>
            <a:ext cx="3474719" cy="1920240"/>
          </a:xfrm>
          <a:prstGeom prst="rect">
            <a:avLst/>
          </a:prstGeom>
          <a:noFill/>
        </p:spPr>
        <p:txBody>
          <a:bodyPr wrap="square">
            <a:spAutoFit/>
          </a:bodyPr>
          <a:lstStyle/>
          <a:p>
            <a:pPr algn="l"/>
            <a:r>
              <a:rPr sz="1000" b="0" i="0">
                <a:solidFill>
                  <a:srgbClr val="94A3B8"/>
                </a:solidFill>
                <a:latin typeface="Calibri"/>
              </a:rPr>
              <a:t>One tap in reels or library. Record stored in IndexedDB; file pre-loaded in proxy cache. Accessible in Downloads tab — video and PDF fully offline.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591056"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481328" cy="201168"/>
          </a:xfrm>
          <a:prstGeom prst="rect">
            <a:avLst/>
          </a:prstGeom>
          <a:noFill/>
        </p:spPr>
        <p:txBody>
          <a:bodyPr wrap="square">
            <a:spAutoFit/>
          </a:bodyPr>
          <a:lstStyle/>
          <a:p>
            <a:pPr algn="l"/>
            <a:r>
              <a:rPr sz="800" b="1" i="0">
                <a:solidFill>
                  <a:srgbClr val="22C55E"/>
                </a:solidFill>
                <a:latin typeface="Calibri"/>
              </a:rPr>
              <a:t>DEMO WALKTHROUGH</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15 Steps, </a:t>
            </a:r>
            <a:r>
              <a:rPr sz="2600" b="1">
                <a:solidFill>
                  <a:srgbClr val="22C55E"/>
                </a:solidFill>
                <a:latin typeface="Calibri"/>
              </a:rPr>
              <a:t>5 Phases</a:t>
            </a:r>
          </a:p>
        </p:txBody>
      </p:sp>
      <p:sp>
        <p:nvSpPr>
          <p:cNvPr id="5" name="TextBox 4"/>
          <p:cNvSpPr txBox="1"/>
          <p:nvPr/>
        </p:nvSpPr>
        <p:spPr>
          <a:xfrm>
            <a:off x="457200" y="1325880"/>
            <a:ext cx="10972800" cy="320040"/>
          </a:xfrm>
          <a:prstGeom prst="rect">
            <a:avLst/>
          </a:prstGeom>
          <a:noFill/>
        </p:spPr>
        <p:txBody>
          <a:bodyPr wrap="square">
            <a:spAutoFit/>
          </a:bodyPr>
          <a:lstStyle/>
          <a:p>
            <a:pPr algn="l"/>
            <a:r>
              <a:rPr sz="1100" b="0" i="1">
                <a:solidFill>
                  <a:srgbClr val="94A3B8"/>
                </a:solidFill>
                <a:latin typeface="Calibri"/>
              </a:rPr>
              <a:t>Evaluators interact hands-on with a 10 inch tablet in a lab with simulated network conditions.</a:t>
            </a:r>
          </a:p>
        </p:txBody>
      </p:sp>
      <p:sp>
        <p:nvSpPr>
          <p:cNvPr id="6" name="Rounded Rectangle 5"/>
          <p:cNvSpPr/>
          <p:nvPr/>
        </p:nvSpPr>
        <p:spPr>
          <a:xfrm>
            <a:off x="274320" y="1783080"/>
            <a:ext cx="150876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4048" y="1819656"/>
            <a:ext cx="1399032" cy="201168"/>
          </a:xfrm>
          <a:prstGeom prst="rect">
            <a:avLst/>
          </a:prstGeom>
          <a:noFill/>
        </p:spPr>
        <p:txBody>
          <a:bodyPr wrap="square">
            <a:spAutoFit/>
          </a:bodyPr>
          <a:lstStyle/>
          <a:p>
            <a:pPr algn="l"/>
            <a:r>
              <a:rPr sz="800" b="1" i="0">
                <a:solidFill>
                  <a:srgbClr val="22C55E"/>
                </a:solidFill>
                <a:latin typeface="Calibri"/>
              </a:rPr>
              <a:t>Phase 1 — Setup</a:t>
            </a:r>
          </a:p>
        </p:txBody>
      </p:sp>
      <p:sp>
        <p:nvSpPr>
          <p:cNvPr id="8" name="TextBox 7"/>
          <p:cNvSpPr txBox="1"/>
          <p:nvPr/>
        </p:nvSpPr>
        <p:spPr>
          <a:xfrm>
            <a:off x="274320" y="2103120"/>
            <a:ext cx="5669280" cy="384048"/>
          </a:xfrm>
          <a:prstGeom prst="rect">
            <a:avLst/>
          </a:prstGeom>
          <a:noFill/>
        </p:spPr>
        <p:txBody>
          <a:bodyPr wrap="square">
            <a:spAutoFit/>
          </a:bodyPr>
          <a:lstStyle/>
          <a:p>
            <a:pPr algn="l"/>
            <a:r>
              <a:rPr sz="1000" b="0" i="0">
                <a:solidFill>
                  <a:srgbClr val="F1F5F9"/>
                </a:solidFill>
                <a:latin typeface="Calibri"/>
              </a:rPr>
              <a:t>1. HQ staff uploads a new training video via admin portal</a:t>
            </a:r>
          </a:p>
        </p:txBody>
      </p:sp>
      <p:sp>
        <p:nvSpPr>
          <p:cNvPr id="9" name="TextBox 8"/>
          <p:cNvSpPr txBox="1"/>
          <p:nvPr/>
        </p:nvSpPr>
        <p:spPr>
          <a:xfrm>
            <a:off x="274320" y="2487168"/>
            <a:ext cx="5669280" cy="384048"/>
          </a:xfrm>
          <a:prstGeom prst="rect">
            <a:avLst/>
          </a:prstGeom>
          <a:noFill/>
        </p:spPr>
        <p:txBody>
          <a:bodyPr wrap="square">
            <a:spAutoFit/>
          </a:bodyPr>
          <a:lstStyle/>
          <a:p>
            <a:pPr algn="l"/>
            <a:r>
              <a:rPr sz="1000" b="0" i="0">
                <a:solidFill>
                  <a:srgbClr val="F1F5F9"/>
                </a:solidFill>
                <a:latin typeface="Calibri"/>
              </a:rPr>
              <a:t>2. HQ staff uploads a PDF and assigns categories &amp; interests</a:t>
            </a:r>
          </a:p>
        </p:txBody>
      </p:sp>
      <p:sp>
        <p:nvSpPr>
          <p:cNvPr id="10" name="TextBox 9"/>
          <p:cNvSpPr txBox="1"/>
          <p:nvPr/>
        </p:nvSpPr>
        <p:spPr>
          <a:xfrm>
            <a:off x="274320" y="2871215"/>
            <a:ext cx="5669280" cy="384048"/>
          </a:xfrm>
          <a:prstGeom prst="rect">
            <a:avLst/>
          </a:prstGeom>
          <a:noFill/>
        </p:spPr>
        <p:txBody>
          <a:bodyPr wrap="square">
            <a:spAutoFit/>
          </a:bodyPr>
          <a:lstStyle/>
          <a:p>
            <a:pPr algn="l"/>
            <a:r>
              <a:rPr sz="1000" b="0" i="0">
                <a:solidFill>
                  <a:srgbClr val="F1F5F9"/>
                </a:solidFill>
                <a:latin typeface="Calibri"/>
              </a:rPr>
              <a:t>3. Edge device opens app — interest selection screen appears</a:t>
            </a:r>
          </a:p>
        </p:txBody>
      </p:sp>
      <p:sp>
        <p:nvSpPr>
          <p:cNvPr id="11" name="Rounded Rectangle 10"/>
          <p:cNvSpPr/>
          <p:nvPr/>
        </p:nvSpPr>
        <p:spPr>
          <a:xfrm>
            <a:off x="274320" y="3346703"/>
            <a:ext cx="2414015"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84048" y="3383279"/>
            <a:ext cx="2304287" cy="201168"/>
          </a:xfrm>
          <a:prstGeom prst="rect">
            <a:avLst/>
          </a:prstGeom>
          <a:noFill/>
        </p:spPr>
        <p:txBody>
          <a:bodyPr wrap="square">
            <a:spAutoFit/>
          </a:bodyPr>
          <a:lstStyle/>
          <a:p>
            <a:pPr algn="l"/>
            <a:r>
              <a:rPr sz="800" b="1" i="0">
                <a:solidFill>
                  <a:srgbClr val="22C55E"/>
                </a:solidFill>
                <a:latin typeface="Calibri"/>
              </a:rPr>
              <a:t>Phase 2 — Reels Experience</a:t>
            </a:r>
          </a:p>
        </p:txBody>
      </p:sp>
      <p:sp>
        <p:nvSpPr>
          <p:cNvPr id="13" name="TextBox 12"/>
          <p:cNvSpPr txBox="1"/>
          <p:nvPr/>
        </p:nvSpPr>
        <p:spPr>
          <a:xfrm>
            <a:off x="274320" y="3666744"/>
            <a:ext cx="5669280" cy="384048"/>
          </a:xfrm>
          <a:prstGeom prst="rect">
            <a:avLst/>
          </a:prstGeom>
          <a:noFill/>
        </p:spPr>
        <p:txBody>
          <a:bodyPr wrap="square">
            <a:spAutoFit/>
          </a:bodyPr>
          <a:lstStyle/>
          <a:p>
            <a:pPr algn="l"/>
            <a:r>
              <a:rPr sz="1000" b="0" i="0">
                <a:solidFill>
                  <a:srgbClr val="F1F5F9"/>
                </a:solidFill>
                <a:latin typeface="Calibri"/>
              </a:rPr>
              <a:t>4. User selects 2-3 interests — Reels feed loads, filtered</a:t>
            </a:r>
          </a:p>
        </p:txBody>
      </p:sp>
      <p:sp>
        <p:nvSpPr>
          <p:cNvPr id="14" name="TextBox 13"/>
          <p:cNvSpPr txBox="1"/>
          <p:nvPr/>
        </p:nvSpPr>
        <p:spPr>
          <a:xfrm>
            <a:off x="274320" y="4050791"/>
            <a:ext cx="5669280" cy="384048"/>
          </a:xfrm>
          <a:prstGeom prst="rect">
            <a:avLst/>
          </a:prstGeom>
          <a:noFill/>
        </p:spPr>
        <p:txBody>
          <a:bodyPr wrap="square">
            <a:spAutoFit/>
          </a:bodyPr>
          <a:lstStyle/>
          <a:p>
            <a:pPr algn="l"/>
            <a:r>
              <a:rPr sz="1000" b="0" i="0">
                <a:solidFill>
                  <a:srgbClr val="F1F5F9"/>
                </a:solidFill>
                <a:latin typeface="Calibri"/>
              </a:rPr>
              <a:t>5. User scrolls &amp; swipes through reels — videos auto-play</a:t>
            </a:r>
          </a:p>
        </p:txBody>
      </p:sp>
      <p:sp>
        <p:nvSpPr>
          <p:cNvPr id="15" name="TextBox 14"/>
          <p:cNvSpPr txBox="1"/>
          <p:nvPr/>
        </p:nvSpPr>
        <p:spPr>
          <a:xfrm>
            <a:off x="274320" y="4434840"/>
            <a:ext cx="5669280" cy="384048"/>
          </a:xfrm>
          <a:prstGeom prst="rect">
            <a:avLst/>
          </a:prstGeom>
          <a:noFill/>
        </p:spPr>
        <p:txBody>
          <a:bodyPr wrap="square">
            <a:spAutoFit/>
          </a:bodyPr>
          <a:lstStyle/>
          <a:p>
            <a:pPr algn="l"/>
            <a:r>
              <a:rPr sz="1000" b="0" i="0">
                <a:solidFill>
                  <a:srgbClr val="F1F5F9"/>
                </a:solidFill>
                <a:latin typeface="Calibri"/>
              </a:rPr>
              <a:t>6. User taps Download on a video — saved locally</a:t>
            </a:r>
          </a:p>
        </p:txBody>
      </p:sp>
      <p:sp>
        <p:nvSpPr>
          <p:cNvPr id="16" name="Rounded Rectangle 15"/>
          <p:cNvSpPr/>
          <p:nvPr/>
        </p:nvSpPr>
        <p:spPr>
          <a:xfrm>
            <a:off x="274320" y="4910327"/>
            <a:ext cx="1673352"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84048" y="4946903"/>
            <a:ext cx="1563624" cy="201168"/>
          </a:xfrm>
          <a:prstGeom prst="rect">
            <a:avLst/>
          </a:prstGeom>
          <a:noFill/>
        </p:spPr>
        <p:txBody>
          <a:bodyPr wrap="square">
            <a:spAutoFit/>
          </a:bodyPr>
          <a:lstStyle/>
          <a:p>
            <a:pPr algn="l"/>
            <a:r>
              <a:rPr sz="800" b="1" i="0">
                <a:solidFill>
                  <a:srgbClr val="60A5FA"/>
                </a:solidFill>
                <a:latin typeface="Calibri"/>
              </a:rPr>
              <a:t>Phase 3 — Library</a:t>
            </a:r>
          </a:p>
        </p:txBody>
      </p:sp>
      <p:sp>
        <p:nvSpPr>
          <p:cNvPr id="18" name="TextBox 17"/>
          <p:cNvSpPr txBox="1"/>
          <p:nvPr/>
        </p:nvSpPr>
        <p:spPr>
          <a:xfrm>
            <a:off x="274320" y="5230367"/>
            <a:ext cx="5669280" cy="384048"/>
          </a:xfrm>
          <a:prstGeom prst="rect">
            <a:avLst/>
          </a:prstGeom>
          <a:noFill/>
        </p:spPr>
        <p:txBody>
          <a:bodyPr wrap="square">
            <a:spAutoFit/>
          </a:bodyPr>
          <a:lstStyle/>
          <a:p>
            <a:pPr algn="l"/>
            <a:r>
              <a:rPr sz="1000" b="0" i="0">
                <a:solidFill>
                  <a:srgbClr val="F1F5F9"/>
                </a:solidFill>
                <a:latin typeface="Calibri"/>
              </a:rPr>
              <a:t>7. Navigate to Library tab — category tree shown</a:t>
            </a:r>
          </a:p>
        </p:txBody>
      </p:sp>
      <p:sp>
        <p:nvSpPr>
          <p:cNvPr id="19" name="TextBox 18"/>
          <p:cNvSpPr txBox="1"/>
          <p:nvPr/>
        </p:nvSpPr>
        <p:spPr>
          <a:xfrm>
            <a:off x="274320" y="5614415"/>
            <a:ext cx="5669280" cy="384048"/>
          </a:xfrm>
          <a:prstGeom prst="rect">
            <a:avLst/>
          </a:prstGeom>
          <a:noFill/>
        </p:spPr>
        <p:txBody>
          <a:bodyPr wrap="square">
            <a:spAutoFit/>
          </a:bodyPr>
          <a:lstStyle/>
          <a:p>
            <a:pPr algn="l"/>
            <a:r>
              <a:rPr sz="1000" b="0" i="0">
                <a:solidFill>
                  <a:srgbClr val="F1F5F9"/>
                </a:solidFill>
                <a:latin typeface="Calibri"/>
              </a:rPr>
              <a:t>8. Search for a topic — results appear within seconds</a:t>
            </a:r>
          </a:p>
        </p:txBody>
      </p:sp>
      <p:sp>
        <p:nvSpPr>
          <p:cNvPr id="20" name="TextBox 19"/>
          <p:cNvSpPr txBox="1"/>
          <p:nvPr/>
        </p:nvSpPr>
        <p:spPr>
          <a:xfrm>
            <a:off x="274320" y="5998463"/>
            <a:ext cx="5669280" cy="384048"/>
          </a:xfrm>
          <a:prstGeom prst="rect">
            <a:avLst/>
          </a:prstGeom>
          <a:noFill/>
        </p:spPr>
        <p:txBody>
          <a:bodyPr wrap="square">
            <a:spAutoFit/>
          </a:bodyPr>
          <a:lstStyle/>
          <a:p>
            <a:pPr algn="l"/>
            <a:r>
              <a:rPr sz="1000" b="0" i="0">
                <a:solidFill>
                  <a:srgbClr val="F1F5F9"/>
                </a:solidFill>
                <a:latin typeface="Calibri"/>
              </a:rPr>
              <a:t>9. Open a PDF — renders in-browser, page by page</a:t>
            </a:r>
          </a:p>
        </p:txBody>
      </p:sp>
      <p:sp>
        <p:nvSpPr>
          <p:cNvPr id="21" name="TextBox 20"/>
          <p:cNvSpPr txBox="1"/>
          <p:nvPr/>
        </p:nvSpPr>
        <p:spPr>
          <a:xfrm>
            <a:off x="274320" y="6382511"/>
            <a:ext cx="5669280" cy="384048"/>
          </a:xfrm>
          <a:prstGeom prst="rect">
            <a:avLst/>
          </a:prstGeom>
          <a:noFill/>
        </p:spPr>
        <p:txBody>
          <a:bodyPr wrap="square">
            <a:spAutoFit/>
          </a:bodyPr>
          <a:lstStyle/>
          <a:p>
            <a:pPr algn="l"/>
            <a:r>
              <a:rPr sz="1000" b="0" i="0">
                <a:solidFill>
                  <a:srgbClr val="F1F5F9"/>
                </a:solidFill>
                <a:latin typeface="Calibri"/>
              </a:rPr>
              <a:t>10. Download the PDF — appears in Downloads tab</a:t>
            </a:r>
          </a:p>
        </p:txBody>
      </p:sp>
      <p:sp>
        <p:nvSpPr>
          <p:cNvPr id="22" name="Rounded Rectangle 21"/>
          <p:cNvSpPr/>
          <p:nvPr/>
        </p:nvSpPr>
        <p:spPr>
          <a:xfrm>
            <a:off x="6217920" y="1783080"/>
            <a:ext cx="1673352"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327648" y="1819656"/>
            <a:ext cx="1563624" cy="201168"/>
          </a:xfrm>
          <a:prstGeom prst="rect">
            <a:avLst/>
          </a:prstGeom>
          <a:noFill/>
        </p:spPr>
        <p:txBody>
          <a:bodyPr wrap="square">
            <a:spAutoFit/>
          </a:bodyPr>
          <a:lstStyle/>
          <a:p>
            <a:pPr algn="l"/>
            <a:r>
              <a:rPr sz="800" b="1" i="0">
                <a:solidFill>
                  <a:srgbClr val="FB923C"/>
                </a:solidFill>
                <a:latin typeface="Calibri"/>
              </a:rPr>
              <a:t>Phase 4 — Offline</a:t>
            </a:r>
          </a:p>
        </p:txBody>
      </p:sp>
      <p:sp>
        <p:nvSpPr>
          <p:cNvPr id="24" name="TextBox 23"/>
          <p:cNvSpPr txBox="1"/>
          <p:nvPr/>
        </p:nvSpPr>
        <p:spPr>
          <a:xfrm>
            <a:off x="6217920" y="2103120"/>
            <a:ext cx="5669280" cy="384048"/>
          </a:xfrm>
          <a:prstGeom prst="rect">
            <a:avLst/>
          </a:prstGeom>
          <a:noFill/>
        </p:spPr>
        <p:txBody>
          <a:bodyPr wrap="square">
            <a:spAutoFit/>
          </a:bodyPr>
          <a:lstStyle/>
          <a:p>
            <a:pPr algn="l"/>
            <a:r>
              <a:rPr sz="1000" b="0" i="0">
                <a:solidFill>
                  <a:srgbClr val="F1F5F9"/>
                </a:solidFill>
                <a:latin typeface="Calibri"/>
              </a:rPr>
              <a:t>11. Network disconnected (simulated) — offline indicator appears</a:t>
            </a:r>
          </a:p>
        </p:txBody>
      </p:sp>
      <p:sp>
        <p:nvSpPr>
          <p:cNvPr id="25" name="TextBox 24"/>
          <p:cNvSpPr txBox="1"/>
          <p:nvPr/>
        </p:nvSpPr>
        <p:spPr>
          <a:xfrm>
            <a:off x="6217920" y="2487168"/>
            <a:ext cx="5669280" cy="384048"/>
          </a:xfrm>
          <a:prstGeom prst="rect">
            <a:avLst/>
          </a:prstGeom>
          <a:noFill/>
        </p:spPr>
        <p:txBody>
          <a:bodyPr wrap="square">
            <a:spAutoFit/>
          </a:bodyPr>
          <a:lstStyle/>
          <a:p>
            <a:pPr algn="l"/>
            <a:r>
              <a:rPr sz="1000" b="0" i="0">
                <a:solidFill>
                  <a:srgbClr val="F1F5F9"/>
                </a:solidFill>
                <a:latin typeface="Calibri"/>
              </a:rPr>
              <a:t>12. Open Downloads tab — video and PDF visible</a:t>
            </a:r>
          </a:p>
        </p:txBody>
      </p:sp>
      <p:sp>
        <p:nvSpPr>
          <p:cNvPr id="26" name="TextBox 25"/>
          <p:cNvSpPr txBox="1"/>
          <p:nvPr/>
        </p:nvSpPr>
        <p:spPr>
          <a:xfrm>
            <a:off x="6217920" y="2871215"/>
            <a:ext cx="5669280" cy="384048"/>
          </a:xfrm>
          <a:prstGeom prst="rect">
            <a:avLst/>
          </a:prstGeom>
          <a:noFill/>
        </p:spPr>
        <p:txBody>
          <a:bodyPr wrap="square">
            <a:spAutoFit/>
          </a:bodyPr>
          <a:lstStyle/>
          <a:p>
            <a:pPr algn="l"/>
            <a:r>
              <a:rPr sz="1000" b="0" i="0">
                <a:solidFill>
                  <a:srgbClr val="F1F5F9"/>
                </a:solidFill>
                <a:latin typeface="Calibri"/>
              </a:rPr>
              <a:t>13. Play downloaded video offline — plays fully, no buffering</a:t>
            </a:r>
          </a:p>
        </p:txBody>
      </p:sp>
      <p:sp>
        <p:nvSpPr>
          <p:cNvPr id="27" name="TextBox 26"/>
          <p:cNvSpPr txBox="1"/>
          <p:nvPr/>
        </p:nvSpPr>
        <p:spPr>
          <a:xfrm>
            <a:off x="6217920" y="3255263"/>
            <a:ext cx="5669280" cy="384048"/>
          </a:xfrm>
          <a:prstGeom prst="rect">
            <a:avLst/>
          </a:prstGeom>
          <a:noFill/>
        </p:spPr>
        <p:txBody>
          <a:bodyPr wrap="square">
            <a:spAutoFit/>
          </a:bodyPr>
          <a:lstStyle/>
          <a:p>
            <a:pPr algn="l"/>
            <a:r>
              <a:rPr sz="1000" b="0" i="0">
                <a:solidFill>
                  <a:srgbClr val="F1F5F9"/>
                </a:solidFill>
                <a:latin typeface="Calibri"/>
              </a:rPr>
              <a:t>14. Open downloaded PDF offline — renders fully</a:t>
            </a:r>
          </a:p>
        </p:txBody>
      </p:sp>
      <p:sp>
        <p:nvSpPr>
          <p:cNvPr id="28" name="Rounded Rectangle 27"/>
          <p:cNvSpPr/>
          <p:nvPr/>
        </p:nvSpPr>
        <p:spPr>
          <a:xfrm>
            <a:off x="6217920" y="3730751"/>
            <a:ext cx="2249424"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327648" y="3767327"/>
            <a:ext cx="2139696" cy="201168"/>
          </a:xfrm>
          <a:prstGeom prst="rect">
            <a:avLst/>
          </a:prstGeom>
          <a:noFill/>
        </p:spPr>
        <p:txBody>
          <a:bodyPr wrap="square">
            <a:spAutoFit/>
          </a:bodyPr>
          <a:lstStyle/>
          <a:p>
            <a:pPr algn="l"/>
            <a:r>
              <a:rPr sz="800" b="1" i="0">
                <a:solidFill>
                  <a:srgbClr val="22C55E"/>
                </a:solidFill>
                <a:latin typeface="Calibri"/>
              </a:rPr>
              <a:t>Phase 5 — Content Update</a:t>
            </a:r>
          </a:p>
        </p:txBody>
      </p:sp>
      <p:sp>
        <p:nvSpPr>
          <p:cNvPr id="30" name="TextBox 29"/>
          <p:cNvSpPr txBox="1"/>
          <p:nvPr/>
        </p:nvSpPr>
        <p:spPr>
          <a:xfrm>
            <a:off x="6217920" y="4050791"/>
            <a:ext cx="5669280" cy="384048"/>
          </a:xfrm>
          <a:prstGeom prst="rect">
            <a:avLst/>
          </a:prstGeom>
          <a:noFill/>
        </p:spPr>
        <p:txBody>
          <a:bodyPr wrap="square">
            <a:spAutoFit/>
          </a:bodyPr>
          <a:lstStyle/>
          <a:p>
            <a:pPr algn="l"/>
            <a:r>
              <a:rPr sz="1000" b="0" i="0">
                <a:solidFill>
                  <a:srgbClr val="F1F5F9"/>
                </a:solidFill>
                <a:latin typeface="Calibri"/>
              </a:rPr>
              <a:t>15. Network restored — HQ uploads updated video — edge shows updated badge after sync</a:t>
            </a:r>
          </a:p>
        </p:txBody>
      </p:sp>
      <p:sp>
        <p:nvSpPr>
          <p:cNvPr id="31" name="Rectangle 30"/>
          <p:cNvSpPr/>
          <p:nvPr/>
        </p:nvSpPr>
        <p:spPr>
          <a:xfrm>
            <a:off x="228600" y="5715000"/>
            <a:ext cx="11731752" cy="86868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228600" y="5715000"/>
            <a:ext cx="11731752"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457200" y="5897880"/>
            <a:ext cx="11430000" cy="292608"/>
          </a:xfrm>
          <a:prstGeom prst="rect">
            <a:avLst/>
          </a:prstGeom>
          <a:noFill/>
        </p:spPr>
        <p:txBody>
          <a:bodyPr wrap="square">
            <a:spAutoFit/>
          </a:bodyPr>
          <a:lstStyle/>
          <a:p>
            <a:pPr algn="l"/>
            <a:r>
              <a:rPr sz="1100" b="1" i="0">
                <a:solidFill>
                  <a:srgbClr val="F1F5F9"/>
                </a:solidFill>
                <a:latin typeface="Calibri"/>
              </a:rPr>
              <a:t>All 15 steps prove the complete end-to-end system:</a:t>
            </a:r>
          </a:p>
        </p:txBody>
      </p:sp>
      <p:sp>
        <p:nvSpPr>
          <p:cNvPr id="34" name="TextBox 33"/>
          <p:cNvSpPr txBox="1"/>
          <p:nvPr/>
        </p:nvSpPr>
        <p:spPr>
          <a:xfrm>
            <a:off x="457200" y="6190488"/>
            <a:ext cx="11430000" cy="292608"/>
          </a:xfrm>
          <a:prstGeom prst="rect">
            <a:avLst/>
          </a:prstGeom>
          <a:noFill/>
        </p:spPr>
        <p:txBody>
          <a:bodyPr wrap="square">
            <a:spAutoFit/>
          </a:bodyPr>
          <a:lstStyle/>
          <a:p>
            <a:pPr algn="l"/>
            <a:r>
              <a:rPr sz="1100" b="0" i="0">
                <a:solidFill>
                  <a:srgbClr val="22C55E"/>
                </a:solidFill>
                <a:latin typeface="Calibri"/>
              </a:rPr>
              <a:t>upload → publish → sync → consume → download → offline → update detection.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837943"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728215" cy="201168"/>
          </a:xfrm>
          <a:prstGeom prst="rect">
            <a:avLst/>
          </a:prstGeom>
          <a:noFill/>
        </p:spPr>
        <p:txBody>
          <a:bodyPr wrap="square">
            <a:spAutoFit/>
          </a:bodyPr>
          <a:lstStyle/>
          <a:p>
            <a:pPr algn="l"/>
            <a:r>
              <a:rPr sz="800" b="1" i="0">
                <a:solidFill>
                  <a:srgbClr val="22C55E"/>
                </a:solidFill>
                <a:latin typeface="Calibri"/>
              </a:rPr>
              <a:t>HANDS-ON EVALUATION</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Try It </a:t>
            </a:r>
            <a:r>
              <a:rPr sz="2600" b="1">
                <a:solidFill>
                  <a:srgbClr val="22C55E"/>
                </a:solidFill>
                <a:latin typeface="Calibri"/>
              </a:rPr>
              <a:t>Yourself</a:t>
            </a:r>
          </a:p>
        </p:txBody>
      </p:sp>
      <p:sp>
        <p:nvSpPr>
          <p:cNvPr id="5" name="TextBox 4"/>
          <p:cNvSpPr txBox="1"/>
          <p:nvPr/>
        </p:nvSpPr>
        <p:spPr>
          <a:xfrm>
            <a:off x="457200" y="1325880"/>
            <a:ext cx="10972800" cy="411480"/>
          </a:xfrm>
          <a:prstGeom prst="rect">
            <a:avLst/>
          </a:prstGeom>
          <a:noFill/>
        </p:spPr>
        <p:txBody>
          <a:bodyPr wrap="square">
            <a:spAutoFit/>
          </a:bodyPr>
          <a:lstStyle/>
          <a:p>
            <a:pPr algn="l"/>
            <a:r>
              <a:rPr sz="1200" b="0" i="0">
                <a:solidFill>
                  <a:srgbClr val="94A3B8"/>
                </a:solidFill>
                <a:latin typeface="Calibri"/>
              </a:rPr>
              <a:t>The tablet is available now. You are looking at the actual system — not a prototype or mockup.</a:t>
            </a:r>
          </a:p>
        </p:txBody>
      </p:sp>
      <p:sp>
        <p:nvSpPr>
          <p:cNvPr id="6" name="Rectangle 5"/>
          <p:cNvSpPr/>
          <p:nvPr/>
        </p:nvSpPr>
        <p:spPr>
          <a:xfrm>
            <a:off x="228600" y="1920240"/>
            <a:ext cx="3749039" cy="347472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228600" y="1920240"/>
            <a:ext cx="3749039"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11480" y="2148840"/>
            <a:ext cx="3383280" cy="411480"/>
          </a:xfrm>
          <a:prstGeom prst="rect">
            <a:avLst/>
          </a:prstGeom>
          <a:noFill/>
        </p:spPr>
        <p:txBody>
          <a:bodyPr wrap="square">
            <a:spAutoFit/>
          </a:bodyPr>
          <a:lstStyle/>
          <a:p>
            <a:pPr algn="l"/>
            <a:r>
              <a:rPr sz="1400" b="1" i="0">
                <a:solidFill>
                  <a:srgbClr val="F1F5F9"/>
                </a:solidFill>
                <a:latin typeface="Calibri"/>
              </a:rPr>
              <a:t>▶  Scroll the Feed</a:t>
            </a:r>
          </a:p>
        </p:txBody>
      </p:sp>
      <p:sp>
        <p:nvSpPr>
          <p:cNvPr id="9" name="TextBox 8"/>
          <p:cNvSpPr txBox="1"/>
          <p:nvPr/>
        </p:nvSpPr>
        <p:spPr>
          <a:xfrm>
            <a:off x="411480" y="2651760"/>
            <a:ext cx="3383280" cy="2560320"/>
          </a:xfrm>
          <a:prstGeom prst="rect">
            <a:avLst/>
          </a:prstGeom>
          <a:noFill/>
        </p:spPr>
        <p:txBody>
          <a:bodyPr wrap="square">
            <a:spAutoFit/>
          </a:bodyPr>
          <a:lstStyle/>
          <a:p>
            <a:pPr algn="l"/>
            <a:r>
              <a:rPr sz="1100" b="0" i="0">
                <a:solidFill>
                  <a:srgbClr val="94A3B8"/>
                </a:solidFill>
                <a:latin typeface="Calibri"/>
              </a:rPr>
              <a:t>Open the app, swipe through videos, try filtering by a different interest, tap Like or Save on a clip you want to revisit.</a:t>
            </a:r>
          </a:p>
        </p:txBody>
      </p:sp>
      <p:sp>
        <p:nvSpPr>
          <p:cNvPr id="10" name="Rectangle 9"/>
          <p:cNvSpPr/>
          <p:nvPr/>
        </p:nvSpPr>
        <p:spPr>
          <a:xfrm>
            <a:off x="4224528" y="1920240"/>
            <a:ext cx="3749039" cy="347472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224528" y="1920240"/>
            <a:ext cx="3749039" cy="381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407408" y="2148840"/>
            <a:ext cx="3383280" cy="411480"/>
          </a:xfrm>
          <a:prstGeom prst="rect">
            <a:avLst/>
          </a:prstGeom>
          <a:noFill/>
        </p:spPr>
        <p:txBody>
          <a:bodyPr wrap="square">
            <a:spAutoFit/>
          </a:bodyPr>
          <a:lstStyle/>
          <a:p>
            <a:pPr algn="l"/>
            <a:r>
              <a:rPr sz="1400" b="1" i="0">
                <a:solidFill>
                  <a:srgbClr val="F1F5F9"/>
                </a:solidFill>
                <a:latin typeface="Calibri"/>
              </a:rPr>
              <a:t>☰  Browse the Library</a:t>
            </a:r>
          </a:p>
        </p:txBody>
      </p:sp>
      <p:sp>
        <p:nvSpPr>
          <p:cNvPr id="13" name="TextBox 12"/>
          <p:cNvSpPr txBox="1"/>
          <p:nvPr/>
        </p:nvSpPr>
        <p:spPr>
          <a:xfrm>
            <a:off x="4407408" y="2651760"/>
            <a:ext cx="3383280" cy="2560320"/>
          </a:xfrm>
          <a:prstGeom prst="rect">
            <a:avLst/>
          </a:prstGeom>
          <a:noFill/>
        </p:spPr>
        <p:txBody>
          <a:bodyPr wrap="square">
            <a:spAutoFit/>
          </a:bodyPr>
          <a:lstStyle/>
          <a:p>
            <a:pPr algn="l"/>
            <a:r>
              <a:rPr sz="1100" b="0" i="0">
                <a:solidFill>
                  <a:srgbClr val="94A3B8"/>
                </a:solidFill>
                <a:latin typeface="Calibri"/>
              </a:rPr>
              <a:t>Navigate to Library, browse categories, search for a keyword, open a PDF and download it for offline.</a:t>
            </a:r>
          </a:p>
        </p:txBody>
      </p:sp>
      <p:sp>
        <p:nvSpPr>
          <p:cNvPr id="14" name="Rectangle 13"/>
          <p:cNvSpPr/>
          <p:nvPr/>
        </p:nvSpPr>
        <p:spPr>
          <a:xfrm>
            <a:off x="8229600" y="1920240"/>
            <a:ext cx="3749039" cy="347472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229600" y="1920240"/>
            <a:ext cx="3749039" cy="381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12480" y="2148840"/>
            <a:ext cx="3383280" cy="411480"/>
          </a:xfrm>
          <a:prstGeom prst="rect">
            <a:avLst/>
          </a:prstGeom>
          <a:noFill/>
        </p:spPr>
        <p:txBody>
          <a:bodyPr wrap="square">
            <a:spAutoFit/>
          </a:bodyPr>
          <a:lstStyle/>
          <a:p>
            <a:pPr algn="l"/>
            <a:r>
              <a:rPr sz="1400" b="1" i="0">
                <a:solidFill>
                  <a:srgbClr val="F1F5F9"/>
                </a:solidFill>
                <a:latin typeface="Calibri"/>
              </a:rPr>
              <a:t>📴  Go Offline</a:t>
            </a:r>
          </a:p>
        </p:txBody>
      </p:sp>
      <p:sp>
        <p:nvSpPr>
          <p:cNvPr id="17" name="TextBox 16"/>
          <p:cNvSpPr txBox="1"/>
          <p:nvPr/>
        </p:nvSpPr>
        <p:spPr>
          <a:xfrm>
            <a:off x="8412480" y="2651760"/>
            <a:ext cx="3383280" cy="2560320"/>
          </a:xfrm>
          <a:prstGeom prst="rect">
            <a:avLst/>
          </a:prstGeom>
          <a:noFill/>
        </p:spPr>
        <p:txBody>
          <a:bodyPr wrap="square">
            <a:spAutoFit/>
          </a:bodyPr>
          <a:lstStyle/>
          <a:p>
            <a:pPr algn="l"/>
            <a:r>
              <a:rPr sz="1100" b="0" i="0">
                <a:solidFill>
                  <a:srgbClr val="94A3B8"/>
                </a:solidFill>
                <a:latin typeface="Calibri"/>
              </a:rPr>
              <a:t>Ask the facilitator to disconnect the network, open Downloads, play your downloaded video and PDF, verify they work without connectivity.</a:t>
            </a:r>
          </a:p>
        </p:txBody>
      </p:sp>
      <p:sp>
        <p:nvSpPr>
          <p:cNvPr id="18" name="TextBox 17"/>
          <p:cNvSpPr txBox="1"/>
          <p:nvPr/>
        </p:nvSpPr>
        <p:spPr>
          <a:xfrm>
            <a:off x="457200" y="5760720"/>
            <a:ext cx="10972800" cy="274320"/>
          </a:xfrm>
          <a:prstGeom prst="rect">
            <a:avLst/>
          </a:prstGeom>
          <a:noFill/>
        </p:spPr>
        <p:txBody>
          <a:bodyPr wrap="square">
            <a:spAutoFit/>
          </a:bodyPr>
          <a:lstStyle/>
          <a:p>
            <a:pPr algn="l"/>
            <a:r>
              <a:rPr sz="900" b="0" i="0">
                <a:solidFill>
                  <a:srgbClr val="475569"/>
                </a:solidFill>
                <a:latin typeface="Calibri"/>
              </a:rPr>
              <a:t>Admin portal: ask the facilitator for the URL and demo credentials.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508760"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399032" cy="201168"/>
          </a:xfrm>
          <a:prstGeom prst="rect">
            <a:avLst/>
          </a:prstGeom>
          <a:noFill/>
        </p:spPr>
        <p:txBody>
          <a:bodyPr wrap="square">
            <a:spAutoFit/>
          </a:bodyPr>
          <a:lstStyle/>
          <a:p>
            <a:pPr algn="l"/>
            <a:r>
              <a:rPr sz="800" b="1" i="0">
                <a:solidFill>
                  <a:srgbClr val="22C55E"/>
                </a:solidFill>
                <a:latin typeface="Calibri"/>
              </a:rPr>
              <a:t>SUCCESS METRICS</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Seven Criteria for </a:t>
            </a:r>
            <a:r>
              <a:rPr sz="2600" b="1">
                <a:solidFill>
                  <a:srgbClr val="22C55E"/>
                </a:solidFill>
                <a:latin typeface="Calibri"/>
              </a:rPr>
              <a:t>Demo Success</a:t>
            </a:r>
          </a:p>
        </p:txBody>
      </p:sp>
      <p:graphicFrame>
        <p:nvGraphicFramePr>
          <p:cNvPr id="5" name="Table 4"/>
          <p:cNvGraphicFramePr>
            <a:graphicFrameLocks noGrp="1"/>
          </p:cNvGraphicFramePr>
          <p:nvPr/>
        </p:nvGraphicFramePr>
        <p:xfrm>
          <a:off x="228600" y="1417320"/>
          <a:ext cx="11731751" cy="338328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7799831">
                  <a:extLst>
                    <a:ext uri="{9D8B030D-6E8A-4147-A177-3AD203B41FA5}">
                      <a16:colId xmlns:a16="http://schemas.microsoft.com/office/drawing/2014/main" val="20002"/>
                    </a:ext>
                  </a:extLst>
                </a:gridCol>
              </a:tblGrid>
              <a:tr h="422910">
                <a:tc>
                  <a:txBody>
                    <a:bodyPr/>
                    <a:lstStyle/>
                    <a:p>
                      <a:r>
                        <a:rPr sz="900" b="1">
                          <a:solidFill>
                            <a:srgbClr val="22C55E"/>
                          </a:solidFill>
                          <a:latin typeface="Calibri"/>
                        </a:rPr>
                        <a:t>ID</a:t>
                      </a:r>
                    </a:p>
                  </a:txBody>
                  <a:tcPr>
                    <a:solidFill>
                      <a:srgbClr val="1A2438"/>
                    </a:solidFill>
                  </a:tcPr>
                </a:tc>
                <a:tc>
                  <a:txBody>
                    <a:bodyPr/>
                    <a:lstStyle/>
                    <a:p>
                      <a:r>
                        <a:rPr sz="900" b="1">
                          <a:solidFill>
                            <a:srgbClr val="22C55E"/>
                          </a:solidFill>
                          <a:latin typeface="Calibri"/>
                        </a:rPr>
                        <a:t>Criterion</a:t>
                      </a:r>
                    </a:p>
                  </a:txBody>
                  <a:tcPr>
                    <a:solidFill>
                      <a:srgbClr val="1A2438"/>
                    </a:solidFill>
                  </a:tcPr>
                </a:tc>
                <a:tc>
                  <a:txBody>
                    <a:bodyPr/>
                    <a:lstStyle/>
                    <a:p>
                      <a:r>
                        <a:rPr sz="900" b="1">
                          <a:solidFill>
                            <a:srgbClr val="22C55E"/>
                          </a:solidFill>
                          <a:latin typeface="Calibri"/>
                        </a:rPr>
                        <a:t>Target</a:t>
                      </a:r>
                    </a:p>
                  </a:txBody>
                  <a:tcPr>
                    <a:solidFill>
                      <a:srgbClr val="1A2438"/>
                    </a:solidFill>
                  </a:tcPr>
                </a:tc>
                <a:extLst>
                  <a:ext uri="{0D108BD9-81ED-4DB2-BD59-A6C34878D82A}">
                    <a16:rowId xmlns:a16="http://schemas.microsoft.com/office/drawing/2014/main" val="10000"/>
                  </a:ext>
                </a:extLst>
              </a:tr>
              <a:tr h="422910">
                <a:tc>
                  <a:txBody>
                    <a:bodyPr/>
                    <a:lstStyle/>
                    <a:p>
                      <a:r>
                        <a:rPr sz="900" b="1">
                          <a:solidFill>
                            <a:srgbClr val="22C55E"/>
                          </a:solidFill>
                          <a:latin typeface="Calibri"/>
                        </a:rPr>
                        <a:t>S1</a:t>
                      </a:r>
                    </a:p>
                  </a:txBody>
                  <a:tcPr>
                    <a:solidFill>
                      <a:srgbClr val="0F1A2E"/>
                    </a:solidFill>
                  </a:tcPr>
                </a:tc>
                <a:tc>
                  <a:txBody>
                    <a:bodyPr/>
                    <a:lstStyle/>
                    <a:p>
                      <a:r>
                        <a:rPr sz="1000" b="0">
                          <a:solidFill>
                            <a:srgbClr val="F1F5F9"/>
                          </a:solidFill>
                          <a:latin typeface="Calibri"/>
                        </a:rPr>
                        <a:t>End-to-end flow</a:t>
                      </a:r>
                    </a:p>
                  </a:txBody>
                  <a:tcPr>
                    <a:solidFill>
                      <a:srgbClr val="0F1A2E"/>
                    </a:solidFill>
                  </a:tcPr>
                </a:tc>
                <a:tc>
                  <a:txBody>
                    <a:bodyPr/>
                    <a:lstStyle/>
                    <a:p>
                      <a:r>
                        <a:rPr sz="1000" b="0">
                          <a:solidFill>
                            <a:srgbClr val="94A3B8"/>
                          </a:solidFill>
                          <a:latin typeface="Calibri"/>
                        </a:rPr>
                        <a:t>Upload → publish → catalog → consume (video + PDF) → download → view offline</a:t>
                      </a:r>
                    </a:p>
                  </a:txBody>
                  <a:tcPr>
                    <a:solidFill>
                      <a:srgbClr val="0F1A2E"/>
                    </a:solidFill>
                  </a:tcPr>
                </a:tc>
                <a:extLst>
                  <a:ext uri="{0D108BD9-81ED-4DB2-BD59-A6C34878D82A}">
                    <a16:rowId xmlns:a16="http://schemas.microsoft.com/office/drawing/2014/main" val="10001"/>
                  </a:ext>
                </a:extLst>
              </a:tr>
              <a:tr h="422910">
                <a:tc>
                  <a:txBody>
                    <a:bodyPr/>
                    <a:lstStyle/>
                    <a:p>
                      <a:r>
                        <a:rPr sz="900" b="1">
                          <a:solidFill>
                            <a:srgbClr val="22C55E"/>
                          </a:solidFill>
                          <a:latin typeface="Calibri"/>
                        </a:rPr>
                        <a:t>S2</a:t>
                      </a:r>
                    </a:p>
                  </a:txBody>
                  <a:tcPr>
                    <a:solidFill>
                      <a:srgbClr val="131F36"/>
                    </a:solidFill>
                  </a:tcPr>
                </a:tc>
                <a:tc>
                  <a:txBody>
                    <a:bodyPr/>
                    <a:lstStyle/>
                    <a:p>
                      <a:r>
                        <a:rPr sz="1000" b="0">
                          <a:solidFill>
                            <a:srgbClr val="F1F5F9"/>
                          </a:solidFill>
                          <a:latin typeface="Calibri"/>
                        </a:rPr>
                        <a:t>Library lookup time</a:t>
                      </a:r>
                    </a:p>
                  </a:txBody>
                  <a:tcPr>
                    <a:solidFill>
                      <a:srgbClr val="131F36"/>
                    </a:solidFill>
                  </a:tcPr>
                </a:tc>
                <a:tc>
                  <a:txBody>
                    <a:bodyPr/>
                    <a:lstStyle/>
                    <a:p>
                      <a:r>
                        <a:rPr sz="1000" b="0">
                          <a:solidFill>
                            <a:srgbClr val="94A3B8"/>
                          </a:solidFill>
                          <a:latin typeface="Calibri"/>
                        </a:rPr>
                        <a:t>60 seconds or less to find a specific item in a demo scenario</a:t>
                      </a:r>
                    </a:p>
                  </a:txBody>
                  <a:tcPr>
                    <a:solidFill>
                      <a:srgbClr val="131F36"/>
                    </a:solidFill>
                  </a:tcPr>
                </a:tc>
                <a:extLst>
                  <a:ext uri="{0D108BD9-81ED-4DB2-BD59-A6C34878D82A}">
                    <a16:rowId xmlns:a16="http://schemas.microsoft.com/office/drawing/2014/main" val="10002"/>
                  </a:ext>
                </a:extLst>
              </a:tr>
              <a:tr h="422910">
                <a:tc>
                  <a:txBody>
                    <a:bodyPr/>
                    <a:lstStyle/>
                    <a:p>
                      <a:r>
                        <a:rPr sz="900" b="1">
                          <a:solidFill>
                            <a:srgbClr val="22C55E"/>
                          </a:solidFill>
                          <a:latin typeface="Calibri"/>
                        </a:rPr>
                        <a:t>S3</a:t>
                      </a:r>
                    </a:p>
                  </a:txBody>
                  <a:tcPr>
                    <a:solidFill>
                      <a:srgbClr val="0F1A2E"/>
                    </a:solidFill>
                  </a:tcPr>
                </a:tc>
                <a:tc>
                  <a:txBody>
                    <a:bodyPr/>
                    <a:lstStyle/>
                    <a:p>
                      <a:r>
                        <a:rPr sz="1000" b="0">
                          <a:solidFill>
                            <a:srgbClr val="F1F5F9"/>
                          </a:solidFill>
                          <a:latin typeface="Calibri"/>
                        </a:rPr>
                        <a:t>Reels playback start</a:t>
                      </a:r>
                    </a:p>
                  </a:txBody>
                  <a:tcPr>
                    <a:solidFill>
                      <a:srgbClr val="0F1A2E"/>
                    </a:solidFill>
                  </a:tcPr>
                </a:tc>
                <a:tc>
                  <a:txBody>
                    <a:bodyPr/>
                    <a:lstStyle/>
                    <a:p>
                      <a:r>
                        <a:rPr sz="1000" b="0">
                          <a:solidFill>
                            <a:srgbClr val="94A3B8"/>
                          </a:solidFill>
                          <a:latin typeface="Calibri"/>
                        </a:rPr>
                        <a:t>2 seconds or less on reasonable network; fast-start via prefetch on weak network</a:t>
                      </a:r>
                    </a:p>
                  </a:txBody>
                  <a:tcPr>
                    <a:solidFill>
                      <a:srgbClr val="0F1A2E"/>
                    </a:solidFill>
                  </a:tcPr>
                </a:tc>
                <a:extLst>
                  <a:ext uri="{0D108BD9-81ED-4DB2-BD59-A6C34878D82A}">
                    <a16:rowId xmlns:a16="http://schemas.microsoft.com/office/drawing/2014/main" val="10003"/>
                  </a:ext>
                </a:extLst>
              </a:tr>
              <a:tr h="422910">
                <a:tc>
                  <a:txBody>
                    <a:bodyPr/>
                    <a:lstStyle/>
                    <a:p>
                      <a:r>
                        <a:rPr sz="900" b="1">
                          <a:solidFill>
                            <a:srgbClr val="22C55E"/>
                          </a:solidFill>
                          <a:latin typeface="Calibri"/>
                        </a:rPr>
                        <a:t>S4</a:t>
                      </a:r>
                    </a:p>
                  </a:txBody>
                  <a:tcPr>
                    <a:solidFill>
                      <a:srgbClr val="131F36"/>
                    </a:solidFill>
                  </a:tcPr>
                </a:tc>
                <a:tc>
                  <a:txBody>
                    <a:bodyPr/>
                    <a:lstStyle/>
                    <a:p>
                      <a:r>
                        <a:rPr sz="1000" b="0">
                          <a:solidFill>
                            <a:srgbClr val="F1F5F9"/>
                          </a:solidFill>
                          <a:latin typeface="Calibri"/>
                        </a:rPr>
                        <a:t>Browser containment</a:t>
                      </a:r>
                    </a:p>
                  </a:txBody>
                  <a:tcPr>
                    <a:solidFill>
                      <a:srgbClr val="131F36"/>
                    </a:solidFill>
                  </a:tcPr>
                </a:tc>
                <a:tc>
                  <a:txBody>
                    <a:bodyPr/>
                    <a:lstStyle/>
                    <a:p>
                      <a:r>
                        <a:rPr sz="1000" b="0">
                          <a:solidFill>
                            <a:srgbClr val="94A3B8"/>
                          </a:solidFill>
                          <a:latin typeface="Calibri"/>
                        </a:rPr>
                        <a:t>100% of viewing inside Chrome — no external apps, no pop-ups</a:t>
                      </a:r>
                    </a:p>
                  </a:txBody>
                  <a:tcPr>
                    <a:solidFill>
                      <a:srgbClr val="131F36"/>
                    </a:solidFill>
                  </a:tcPr>
                </a:tc>
                <a:extLst>
                  <a:ext uri="{0D108BD9-81ED-4DB2-BD59-A6C34878D82A}">
                    <a16:rowId xmlns:a16="http://schemas.microsoft.com/office/drawing/2014/main" val="10004"/>
                  </a:ext>
                </a:extLst>
              </a:tr>
              <a:tr h="422910">
                <a:tc>
                  <a:txBody>
                    <a:bodyPr/>
                    <a:lstStyle/>
                    <a:p>
                      <a:r>
                        <a:rPr sz="900" b="1">
                          <a:solidFill>
                            <a:srgbClr val="22C55E"/>
                          </a:solidFill>
                          <a:latin typeface="Calibri"/>
                        </a:rPr>
                        <a:t>S5</a:t>
                      </a:r>
                    </a:p>
                  </a:txBody>
                  <a:tcPr>
                    <a:solidFill>
                      <a:srgbClr val="0F1A2E"/>
                    </a:solidFill>
                  </a:tcPr>
                </a:tc>
                <a:tc>
                  <a:txBody>
                    <a:bodyPr/>
                    <a:lstStyle/>
                    <a:p>
                      <a:r>
                        <a:rPr sz="1000" b="0">
                          <a:solidFill>
                            <a:srgbClr val="F1F5F9"/>
                          </a:solidFill>
                          <a:latin typeface="Calibri"/>
                        </a:rPr>
                        <a:t>Interest filtering</a:t>
                      </a:r>
                    </a:p>
                  </a:txBody>
                  <a:tcPr>
                    <a:solidFill>
                      <a:srgbClr val="0F1A2E"/>
                    </a:solidFill>
                  </a:tcPr>
                </a:tc>
                <a:tc>
                  <a:txBody>
                    <a:bodyPr/>
                    <a:lstStyle/>
                    <a:p>
                      <a:r>
                        <a:rPr sz="1000" b="0">
                          <a:solidFill>
                            <a:srgbClr val="94A3B8"/>
                          </a:solidFill>
                          <a:latin typeface="Calibri"/>
                        </a:rPr>
                        <a:t>3 or more selectable interests that consistently filter feed and library</a:t>
                      </a:r>
                    </a:p>
                  </a:txBody>
                  <a:tcPr>
                    <a:solidFill>
                      <a:srgbClr val="0F1A2E"/>
                    </a:solidFill>
                  </a:tcPr>
                </a:tc>
                <a:extLst>
                  <a:ext uri="{0D108BD9-81ED-4DB2-BD59-A6C34878D82A}">
                    <a16:rowId xmlns:a16="http://schemas.microsoft.com/office/drawing/2014/main" val="10005"/>
                  </a:ext>
                </a:extLst>
              </a:tr>
              <a:tr h="422910">
                <a:tc>
                  <a:txBody>
                    <a:bodyPr/>
                    <a:lstStyle/>
                    <a:p>
                      <a:r>
                        <a:rPr sz="900" b="1">
                          <a:solidFill>
                            <a:srgbClr val="22C55E"/>
                          </a:solidFill>
                          <a:latin typeface="Calibri"/>
                        </a:rPr>
                        <a:t>S6</a:t>
                      </a:r>
                    </a:p>
                  </a:txBody>
                  <a:tcPr>
                    <a:solidFill>
                      <a:srgbClr val="131F36"/>
                    </a:solidFill>
                  </a:tcPr>
                </a:tc>
                <a:tc>
                  <a:txBody>
                    <a:bodyPr/>
                    <a:lstStyle/>
                    <a:p>
                      <a:r>
                        <a:rPr sz="1000" b="0">
                          <a:solidFill>
                            <a:srgbClr val="F1F5F9"/>
                          </a:solidFill>
                          <a:latin typeface="Calibri"/>
                        </a:rPr>
                        <a:t>Offline playback</a:t>
                      </a:r>
                    </a:p>
                  </a:txBody>
                  <a:tcPr>
                    <a:solidFill>
                      <a:srgbClr val="131F36"/>
                    </a:solidFill>
                  </a:tcPr>
                </a:tc>
                <a:tc>
                  <a:txBody>
                    <a:bodyPr/>
                    <a:lstStyle/>
                    <a:p>
                      <a:r>
                        <a:rPr sz="1000" b="0">
                          <a:solidFill>
                            <a:srgbClr val="94A3B8"/>
                          </a:solidFill>
                          <a:latin typeface="Calibri"/>
                        </a:rPr>
                        <a:t>Previously downloaded video and PDF viewable with zero network</a:t>
                      </a:r>
                    </a:p>
                  </a:txBody>
                  <a:tcPr>
                    <a:solidFill>
                      <a:srgbClr val="131F36"/>
                    </a:solidFill>
                  </a:tcPr>
                </a:tc>
                <a:extLst>
                  <a:ext uri="{0D108BD9-81ED-4DB2-BD59-A6C34878D82A}">
                    <a16:rowId xmlns:a16="http://schemas.microsoft.com/office/drawing/2014/main" val="10006"/>
                  </a:ext>
                </a:extLst>
              </a:tr>
              <a:tr h="422910">
                <a:tc>
                  <a:txBody>
                    <a:bodyPr/>
                    <a:lstStyle/>
                    <a:p>
                      <a:r>
                        <a:rPr sz="900" b="1">
                          <a:solidFill>
                            <a:srgbClr val="22C55E"/>
                          </a:solidFill>
                          <a:latin typeface="Calibri"/>
                        </a:rPr>
                        <a:t>S7</a:t>
                      </a:r>
                    </a:p>
                  </a:txBody>
                  <a:tcPr>
                    <a:solidFill>
                      <a:srgbClr val="0F1A2E"/>
                    </a:solidFill>
                  </a:tcPr>
                </a:tc>
                <a:tc>
                  <a:txBody>
                    <a:bodyPr/>
                    <a:lstStyle/>
                    <a:p>
                      <a:r>
                        <a:rPr sz="1000" b="0">
                          <a:solidFill>
                            <a:srgbClr val="F1F5F9"/>
                          </a:solidFill>
                          <a:latin typeface="Calibri"/>
                        </a:rPr>
                        <a:t>Updated badge</a:t>
                      </a:r>
                    </a:p>
                  </a:txBody>
                  <a:tcPr>
                    <a:solidFill>
                      <a:srgbClr val="0F1A2E"/>
                    </a:solidFill>
                  </a:tcPr>
                </a:tc>
                <a:tc>
                  <a:txBody>
                    <a:bodyPr/>
                    <a:lstStyle/>
                    <a:p>
                      <a:r>
                        <a:rPr sz="1000" b="0">
                          <a:solidFill>
                            <a:srgbClr val="94A3B8"/>
                          </a:solidFill>
                          <a:latin typeface="Calibri"/>
                        </a:rPr>
                        <a:t>Downloaded items show updated badge when catalog version exceeds download version after sync</a:t>
                      </a:r>
                    </a:p>
                  </a:txBody>
                  <a:tcPr>
                    <a:solidFill>
                      <a:srgbClr val="0F1A2E"/>
                    </a:solidFill>
                  </a:tcPr>
                </a:tc>
                <a:extLst>
                  <a:ext uri="{0D108BD9-81ED-4DB2-BD59-A6C34878D82A}">
                    <a16:rowId xmlns:a16="http://schemas.microsoft.com/office/drawing/2014/main" val="10007"/>
                  </a:ext>
                </a:extLst>
              </a:tr>
            </a:tbl>
          </a:graphicData>
        </a:graphic>
      </p:graphicFrame>
      <p:sp>
        <p:nvSpPr>
          <p:cNvPr id="6" name="Rectangle 5"/>
          <p:cNvSpPr/>
          <p:nvPr/>
        </p:nvSpPr>
        <p:spPr>
          <a:xfrm>
            <a:off x="228600" y="4937760"/>
            <a:ext cx="6858000" cy="82296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228600" y="4937760"/>
            <a:ext cx="50800" cy="82296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02920" y="5074920"/>
            <a:ext cx="6400800" cy="548640"/>
          </a:xfrm>
          <a:prstGeom prst="rect">
            <a:avLst/>
          </a:prstGeom>
          <a:noFill/>
        </p:spPr>
        <p:txBody>
          <a:bodyPr wrap="square">
            <a:spAutoFit/>
          </a:bodyPr>
          <a:lstStyle/>
          <a:p>
            <a:pPr algn="l"/>
            <a:r>
              <a:rPr sz="1100" b="0" i="0">
                <a:solidFill>
                  <a:srgbClr val="F1F5F9"/>
                </a:solidFill>
                <a:latin typeface="Calibri"/>
              </a:rPr>
              <a:t>If all 7 criteria pass — MVP accepted for continuation development.</a:t>
            </a:r>
          </a:p>
        </p:txBody>
      </p:sp>
      <p:sp>
        <p:nvSpPr>
          <p:cNvPr id="9" name="Rectangle 8"/>
          <p:cNvSpPr/>
          <p:nvPr/>
        </p:nvSpPr>
        <p:spPr>
          <a:xfrm>
            <a:off x="7406640" y="4937760"/>
            <a:ext cx="4572000" cy="82296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589520" y="5074920"/>
            <a:ext cx="4297680" cy="548640"/>
          </a:xfrm>
          <a:prstGeom prst="rect">
            <a:avLst/>
          </a:prstGeom>
          <a:noFill/>
        </p:spPr>
        <p:txBody>
          <a:bodyPr wrap="square">
            <a:spAutoFit/>
          </a:bodyPr>
          <a:lstStyle/>
          <a:p>
            <a:pPr algn="l"/>
            <a:r>
              <a:rPr sz="1000" b="0" i="0">
                <a:solidFill>
                  <a:srgbClr val="94A3B8"/>
                </a:solidFill>
                <a:latin typeface="Calibri"/>
              </a:rPr>
              <a:t>Structural success (S8-S10: code quality, developer onboarding) validated separately by supervisors.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ounded Rectangle 1"/>
          <p:cNvSpPr/>
          <p:nvPr/>
        </p:nvSpPr>
        <p:spPr>
          <a:xfrm>
            <a:off x="457200" y="274320"/>
            <a:ext cx="1591056" cy="256032"/>
          </a:xfrm>
          <a:prstGeom prst="roundRect">
            <a:avLst>
              <a:gd name="adj" fmla="val 4000"/>
            </a:avLst>
          </a:prstGeom>
          <a:solidFill>
            <a:srgbClr val="1A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310896"/>
            <a:ext cx="1481328" cy="201168"/>
          </a:xfrm>
          <a:prstGeom prst="rect">
            <a:avLst/>
          </a:prstGeom>
          <a:noFill/>
        </p:spPr>
        <p:txBody>
          <a:bodyPr wrap="square">
            <a:spAutoFit/>
          </a:bodyPr>
          <a:lstStyle/>
          <a:p>
            <a:pPr algn="l"/>
            <a:r>
              <a:rPr sz="800" b="1" i="0">
                <a:solidFill>
                  <a:srgbClr val="22C55E"/>
                </a:solidFill>
                <a:latin typeface="Calibri"/>
              </a:rPr>
              <a:t>POST-MVP ROADMAP</a:t>
            </a:r>
          </a:p>
        </p:txBody>
      </p:sp>
      <p:sp>
        <p:nvSpPr>
          <p:cNvPr id="4" name="TextBox 3"/>
          <p:cNvSpPr txBox="1"/>
          <p:nvPr/>
        </p:nvSpPr>
        <p:spPr>
          <a:xfrm>
            <a:off x="457200" y="640080"/>
            <a:ext cx="10972800" cy="640080"/>
          </a:xfrm>
          <a:prstGeom prst="rect">
            <a:avLst/>
          </a:prstGeom>
          <a:noFill/>
        </p:spPr>
        <p:txBody>
          <a:bodyPr wrap="square">
            <a:spAutoFit/>
          </a:bodyPr>
          <a:lstStyle/>
          <a:p>
            <a:pPr algn="l"/>
            <a:r>
              <a:rPr sz="2600" b="1">
                <a:solidFill>
                  <a:srgbClr val="F1F5F9"/>
                </a:solidFill>
                <a:latin typeface="Calibri"/>
              </a:rPr>
              <a:t>Designed to </a:t>
            </a:r>
            <a:r>
              <a:rPr sz="2600" b="1">
                <a:solidFill>
                  <a:srgbClr val="22C55E"/>
                </a:solidFill>
                <a:latin typeface="Calibri"/>
              </a:rPr>
              <a:t>Continue</a:t>
            </a:r>
          </a:p>
        </p:txBody>
      </p:sp>
      <p:sp>
        <p:nvSpPr>
          <p:cNvPr id="5" name="TextBox 4"/>
          <p:cNvSpPr txBox="1"/>
          <p:nvPr/>
        </p:nvSpPr>
        <p:spPr>
          <a:xfrm>
            <a:off x="274320" y="1417320"/>
            <a:ext cx="5943600" cy="411480"/>
          </a:xfrm>
          <a:prstGeom prst="rect">
            <a:avLst/>
          </a:prstGeom>
          <a:noFill/>
        </p:spPr>
        <p:txBody>
          <a:bodyPr wrap="square">
            <a:spAutoFit/>
          </a:bodyPr>
          <a:lstStyle/>
          <a:p>
            <a:pPr algn="l"/>
            <a:r>
              <a:rPr sz="1100" b="0" i="0">
                <a:solidFill>
                  <a:srgbClr val="94A3B8"/>
                </a:solidFill>
                <a:latin typeface="Calibri"/>
              </a:rPr>
              <a:t>Each MVP architectural decision was made to enable clean extension without major rewrites:</a:t>
            </a:r>
          </a:p>
        </p:txBody>
      </p:sp>
      <p:sp>
        <p:nvSpPr>
          <p:cNvPr id="6" name="TextBox 5"/>
          <p:cNvSpPr txBox="1"/>
          <p:nvPr/>
        </p:nvSpPr>
        <p:spPr>
          <a:xfrm>
            <a:off x="274320" y="1920240"/>
            <a:ext cx="5943600" cy="731520"/>
          </a:xfrm>
          <a:prstGeom prst="rect">
            <a:avLst/>
          </a:prstGeom>
          <a:noFill/>
        </p:spPr>
        <p:txBody>
          <a:bodyPr wrap="square">
            <a:spAutoFit/>
          </a:bodyPr>
          <a:lstStyle/>
          <a:p>
            <a:r>
              <a:rPr sz="1100" b="1">
                <a:solidFill>
                  <a:srgbClr val="F1F5F9"/>
                </a:solidFill>
                <a:latin typeface="Calibri"/>
              </a:rPr>
              <a:t>User identity &amp; RBAC — </a:t>
            </a:r>
            <a:r>
              <a:rPr sz="1100" b="0">
                <a:solidFill>
                  <a:srgbClr val="94A3B8"/>
                </a:solidFill>
                <a:latin typeface="Calibri"/>
              </a:rPr>
              <a:t>The MVP is userless (kiosk). A device-id pattern allows adding authentication without schema changes.</a:t>
            </a:r>
          </a:p>
        </p:txBody>
      </p:sp>
      <p:sp>
        <p:nvSpPr>
          <p:cNvPr id="7" name="TextBox 6"/>
          <p:cNvSpPr txBox="1"/>
          <p:nvPr/>
        </p:nvSpPr>
        <p:spPr>
          <a:xfrm>
            <a:off x="274320" y="2724912"/>
            <a:ext cx="5943600" cy="731520"/>
          </a:xfrm>
          <a:prstGeom prst="rect">
            <a:avLst/>
          </a:prstGeom>
          <a:noFill/>
        </p:spPr>
        <p:txBody>
          <a:bodyPr wrap="square">
            <a:spAutoFit/>
          </a:bodyPr>
          <a:lstStyle/>
          <a:p>
            <a:r>
              <a:rPr sz="1100" b="1">
                <a:solidFill>
                  <a:srgbClr val="F1F5F9"/>
                </a:solidFill>
                <a:latin typeface="Calibri"/>
              </a:rPr>
              <a:t>Recommendation engine — </a:t>
            </a:r>
            <a:r>
              <a:rPr sz="1100" b="0">
                <a:solidFill>
                  <a:srgbClr val="94A3B8"/>
                </a:solidFill>
                <a:latin typeface="Calibri"/>
              </a:rPr>
              <a:t>Interest filtering is the MVP. View counts and like counts are tracked locally, ready to feed a future algorithm.</a:t>
            </a:r>
          </a:p>
        </p:txBody>
      </p:sp>
      <p:sp>
        <p:nvSpPr>
          <p:cNvPr id="8" name="TextBox 7"/>
          <p:cNvSpPr txBox="1"/>
          <p:nvPr/>
        </p:nvSpPr>
        <p:spPr>
          <a:xfrm>
            <a:off x="274320" y="3529584"/>
            <a:ext cx="5943600" cy="731520"/>
          </a:xfrm>
          <a:prstGeom prst="rect">
            <a:avLst/>
          </a:prstGeom>
          <a:noFill/>
        </p:spPr>
        <p:txBody>
          <a:bodyPr wrap="square">
            <a:spAutoFit/>
          </a:bodyPr>
          <a:lstStyle/>
          <a:p>
            <a:r>
              <a:rPr sz="1100" b="1">
                <a:solidFill>
                  <a:srgbClr val="F1F5F9"/>
                </a:solidFill>
                <a:latin typeface="Calibri"/>
              </a:rPr>
              <a:t>Server-side analytics — </a:t>
            </a:r>
            <a:r>
              <a:rPr sz="1100" b="0">
                <a:solidFill>
                  <a:srgbClr val="94A3B8"/>
                </a:solidFill>
                <a:latin typeface="Calibri"/>
              </a:rPr>
              <a:t>Like/Save are local-only in MVP. The local action log is designed for batch-sync when analytics are added.</a:t>
            </a:r>
          </a:p>
        </p:txBody>
      </p:sp>
      <p:sp>
        <p:nvSpPr>
          <p:cNvPr id="9" name="TextBox 8"/>
          <p:cNvSpPr txBox="1"/>
          <p:nvPr/>
        </p:nvSpPr>
        <p:spPr>
          <a:xfrm>
            <a:off x="274320" y="4334256"/>
            <a:ext cx="5943600" cy="731520"/>
          </a:xfrm>
          <a:prstGeom prst="rect">
            <a:avLst/>
          </a:prstGeom>
          <a:noFill/>
        </p:spPr>
        <p:txBody>
          <a:bodyPr wrap="square">
            <a:spAutoFit/>
          </a:bodyPr>
          <a:lstStyle/>
          <a:p>
            <a:r>
              <a:rPr sz="1100" b="1">
                <a:solidFill>
                  <a:srgbClr val="F1F5F9"/>
                </a:solidFill>
                <a:latin typeface="Calibri"/>
              </a:rPr>
              <a:t>Multi-language support — </a:t>
            </a:r>
            <a:r>
              <a:rPr sz="1100" b="0">
                <a:solidFill>
                  <a:srgbClr val="94A3B8"/>
                </a:solidFill>
                <a:latin typeface="Calibri"/>
              </a:rPr>
              <a:t>English only in MVP. All UI strings use a key-based system; adding a language is a configuration change.</a:t>
            </a:r>
          </a:p>
        </p:txBody>
      </p:sp>
      <p:sp>
        <p:nvSpPr>
          <p:cNvPr id="10" name="TextBox 9"/>
          <p:cNvSpPr txBox="1"/>
          <p:nvPr/>
        </p:nvSpPr>
        <p:spPr>
          <a:xfrm>
            <a:off x="274320" y="5138928"/>
            <a:ext cx="5943600" cy="731520"/>
          </a:xfrm>
          <a:prstGeom prst="rect">
            <a:avLst/>
          </a:prstGeom>
          <a:noFill/>
        </p:spPr>
        <p:txBody>
          <a:bodyPr wrap="square">
            <a:spAutoFit/>
          </a:bodyPr>
          <a:lstStyle/>
          <a:p>
            <a:r>
              <a:rPr sz="1100" b="1">
                <a:solidFill>
                  <a:srgbClr val="F1F5F9"/>
                </a:solidFill>
                <a:latin typeface="Calibri"/>
              </a:rPr>
              <a:t>Push-based sync — </a:t>
            </a:r>
            <a:r>
              <a:rPr sz="1100" b="0">
                <a:solidFill>
                  <a:srgbClr val="94A3B8"/>
                </a:solidFill>
                <a:latin typeface="Calibri"/>
              </a:rPr>
              <a:t>MVP uses pull on app open. The API is designed so a WebSocket channel can be added alongside existing REST endpoints.</a:t>
            </a:r>
          </a:p>
        </p:txBody>
      </p:sp>
      <p:sp>
        <p:nvSpPr>
          <p:cNvPr id="11" name="Rectangle 10"/>
          <p:cNvSpPr/>
          <p:nvPr/>
        </p:nvSpPr>
        <p:spPr>
          <a:xfrm>
            <a:off x="6583680" y="1417320"/>
            <a:ext cx="5303520" cy="128016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583680" y="1417320"/>
            <a:ext cx="50800" cy="128016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0" y="1508760"/>
            <a:ext cx="4846320" cy="1051560"/>
          </a:xfrm>
          <a:prstGeom prst="rect">
            <a:avLst/>
          </a:prstGeom>
          <a:noFill/>
        </p:spPr>
        <p:txBody>
          <a:bodyPr wrap="square">
            <a:spAutoFit/>
          </a:bodyPr>
          <a:lstStyle/>
          <a:p>
            <a:pPr algn="l"/>
            <a:r>
              <a:rPr sz="1200" b="0" i="1">
                <a:solidFill>
                  <a:srgbClr val="F1F5F9"/>
                </a:solidFill>
                <a:latin typeface="Calibri"/>
              </a:rPr>
              <a:t>"Clean layered architecture — a follow-on team can extend any layer without touching the others."</a:t>
            </a:r>
          </a:p>
        </p:txBody>
      </p:sp>
      <p:sp>
        <p:nvSpPr>
          <p:cNvPr id="14" name="Rectangle 13"/>
          <p:cNvSpPr/>
          <p:nvPr/>
        </p:nvSpPr>
        <p:spPr>
          <a:xfrm>
            <a:off x="6583680" y="2880360"/>
            <a:ext cx="4846320" cy="502920"/>
          </a:xfrm>
          <a:prstGeom prst="rect">
            <a:avLst/>
          </a:prstGeom>
          <a:solidFill>
            <a:srgbClr val="1A2438"/>
          </a:solidFill>
          <a:ln w="6350">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583680" y="2880360"/>
            <a:ext cx="50800" cy="5029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812280" y="2971800"/>
            <a:ext cx="4480560" cy="320040"/>
          </a:xfrm>
          <a:prstGeom prst="rect">
            <a:avLst/>
          </a:prstGeom>
          <a:noFill/>
        </p:spPr>
        <p:txBody>
          <a:bodyPr wrap="square">
            <a:spAutoFit/>
          </a:bodyPr>
          <a:lstStyle/>
          <a:p>
            <a:pPr algn="l"/>
            <a:r>
              <a:rPr sz="1100" b="1" i="0">
                <a:solidFill>
                  <a:srgbClr val="F1F5F9"/>
                </a:solidFill>
                <a:latin typeface="Calibri"/>
              </a:rPr>
              <a:t>Content Management</a:t>
            </a:r>
          </a:p>
        </p:txBody>
      </p:sp>
      <p:sp>
        <p:nvSpPr>
          <p:cNvPr id="17" name="Rectangle 16"/>
          <p:cNvSpPr/>
          <p:nvPr/>
        </p:nvSpPr>
        <p:spPr>
          <a:xfrm>
            <a:off x="6583680" y="3474720"/>
            <a:ext cx="4846320" cy="502920"/>
          </a:xfrm>
          <a:prstGeom prst="rect">
            <a:avLst/>
          </a:prstGeom>
          <a:solidFill>
            <a:srgbClr val="1A2438"/>
          </a:solidFill>
          <a:ln w="6350">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12280" y="3566160"/>
            <a:ext cx="4480560" cy="320040"/>
          </a:xfrm>
          <a:prstGeom prst="rect">
            <a:avLst/>
          </a:prstGeom>
          <a:noFill/>
        </p:spPr>
        <p:txBody>
          <a:bodyPr wrap="square">
            <a:spAutoFit/>
          </a:bodyPr>
          <a:lstStyle/>
          <a:p>
            <a:pPr algn="l"/>
            <a:r>
              <a:rPr sz="1100" b="0" i="0">
                <a:solidFill>
                  <a:srgbClr val="94A3B8"/>
                </a:solidFill>
                <a:latin typeface="Calibri"/>
              </a:rPr>
              <a:t>Catalog / API</a:t>
            </a:r>
          </a:p>
        </p:txBody>
      </p:sp>
      <p:sp>
        <p:nvSpPr>
          <p:cNvPr id="19" name="Rectangle 18"/>
          <p:cNvSpPr/>
          <p:nvPr/>
        </p:nvSpPr>
        <p:spPr>
          <a:xfrm>
            <a:off x="6583680" y="4069080"/>
            <a:ext cx="4846320" cy="502920"/>
          </a:xfrm>
          <a:prstGeom prst="rect">
            <a:avLst/>
          </a:prstGeom>
          <a:solidFill>
            <a:srgbClr val="1A2438"/>
          </a:solidFill>
          <a:ln w="6350">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812280" y="4160520"/>
            <a:ext cx="4480560" cy="320040"/>
          </a:xfrm>
          <a:prstGeom prst="rect">
            <a:avLst/>
          </a:prstGeom>
          <a:noFill/>
        </p:spPr>
        <p:txBody>
          <a:bodyPr wrap="square">
            <a:spAutoFit/>
          </a:bodyPr>
          <a:lstStyle/>
          <a:p>
            <a:pPr algn="l"/>
            <a:r>
              <a:rPr sz="1100" b="0" i="0">
                <a:solidFill>
                  <a:srgbClr val="94A3B8"/>
                </a:solidFill>
                <a:latin typeface="Calibri"/>
              </a:rPr>
              <a:t>Delivery / Offline</a:t>
            </a:r>
          </a:p>
        </p:txBody>
      </p:sp>
      <p:sp>
        <p:nvSpPr>
          <p:cNvPr id="21" name="Rectangle 20"/>
          <p:cNvSpPr/>
          <p:nvPr/>
        </p:nvSpPr>
        <p:spPr>
          <a:xfrm>
            <a:off x="6583680" y="4663440"/>
            <a:ext cx="4846320" cy="502920"/>
          </a:xfrm>
          <a:prstGeom prst="rect">
            <a:avLst/>
          </a:prstGeom>
          <a:solidFill>
            <a:srgbClr val="1A2438"/>
          </a:solidFill>
          <a:ln w="6350">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812280" y="4754879"/>
            <a:ext cx="4480560" cy="320040"/>
          </a:xfrm>
          <a:prstGeom prst="rect">
            <a:avLst/>
          </a:prstGeom>
          <a:noFill/>
        </p:spPr>
        <p:txBody>
          <a:bodyPr wrap="square">
            <a:spAutoFit/>
          </a:bodyPr>
          <a:lstStyle/>
          <a:p>
            <a:pPr algn="l"/>
            <a:r>
              <a:rPr sz="1100" b="0" i="0">
                <a:solidFill>
                  <a:srgbClr val="94A3B8"/>
                </a:solidFill>
                <a:latin typeface="Calibri"/>
              </a:rPr>
              <a:t>UI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914400" y="1005840"/>
            <a:ext cx="10360152" cy="731520"/>
          </a:xfrm>
          <a:prstGeom prst="rect">
            <a:avLst/>
          </a:prstGeom>
          <a:noFill/>
        </p:spPr>
        <p:txBody>
          <a:bodyPr wrap="square">
            <a:spAutoFit/>
          </a:bodyPr>
          <a:lstStyle/>
          <a:p>
            <a:pPr algn="ctr"/>
            <a:r>
              <a:rPr sz="3600" b="1" i="0">
                <a:solidFill>
                  <a:srgbClr val="F1F5F9"/>
                </a:solidFill>
                <a:latin typeface="Calibri"/>
              </a:rPr>
              <a:t>Questions</a:t>
            </a:r>
          </a:p>
        </p:txBody>
      </p:sp>
      <p:sp>
        <p:nvSpPr>
          <p:cNvPr id="3" name="Rectangle 2"/>
          <p:cNvSpPr/>
          <p:nvPr/>
        </p:nvSpPr>
        <p:spPr>
          <a:xfrm>
            <a:off x="3200400" y="1874519"/>
            <a:ext cx="5788152" cy="36576"/>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57200" y="2103120"/>
            <a:ext cx="5394960" cy="228600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457200" y="2103120"/>
            <a:ext cx="539496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0080" y="2331720"/>
            <a:ext cx="5029200" cy="411480"/>
          </a:xfrm>
          <a:prstGeom prst="rect">
            <a:avLst/>
          </a:prstGeom>
          <a:noFill/>
        </p:spPr>
        <p:txBody>
          <a:bodyPr wrap="square">
            <a:spAutoFit/>
          </a:bodyPr>
          <a:lstStyle/>
          <a:p>
            <a:pPr algn="l"/>
            <a:r>
              <a:rPr sz="1400" b="1" i="0">
                <a:solidFill>
                  <a:srgbClr val="F1F5F9"/>
                </a:solidFill>
                <a:latin typeface="Calibri"/>
              </a:rPr>
              <a:t>⚙  Technical Questions</a:t>
            </a:r>
          </a:p>
        </p:txBody>
      </p:sp>
      <p:sp>
        <p:nvSpPr>
          <p:cNvPr id="7" name="TextBox 6"/>
          <p:cNvSpPr txBox="1"/>
          <p:nvPr/>
        </p:nvSpPr>
        <p:spPr>
          <a:xfrm>
            <a:off x="640080" y="2834640"/>
            <a:ext cx="5029200" cy="1371600"/>
          </a:xfrm>
          <a:prstGeom prst="rect">
            <a:avLst/>
          </a:prstGeom>
          <a:noFill/>
        </p:spPr>
        <p:txBody>
          <a:bodyPr wrap="square">
            <a:spAutoFit/>
          </a:bodyPr>
          <a:lstStyle/>
          <a:p>
            <a:pPr algn="l"/>
            <a:r>
              <a:rPr sz="1100" b="0" i="0">
                <a:solidFill>
                  <a:srgbClr val="94A3B8"/>
                </a:solidFill>
                <a:latin typeface="Calibri"/>
              </a:rPr>
              <a:t>Architecture, data model, API design, offline implementation, deployment, and the monorepo structure.</a:t>
            </a:r>
          </a:p>
        </p:txBody>
      </p:sp>
      <p:sp>
        <p:nvSpPr>
          <p:cNvPr id="8" name="Rectangle 7"/>
          <p:cNvSpPr/>
          <p:nvPr/>
        </p:nvSpPr>
        <p:spPr>
          <a:xfrm>
            <a:off x="6336792" y="2103120"/>
            <a:ext cx="5394960" cy="2286000"/>
          </a:xfrm>
          <a:prstGeom prst="rect">
            <a:avLst/>
          </a:prstGeom>
          <a:solidFill>
            <a:srgbClr val="0F1A2E"/>
          </a:solidFill>
          <a:ln w="9525">
            <a:solidFill>
              <a:srgbClr val="1A243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6336792" y="2103120"/>
            <a:ext cx="5394960" cy="381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519672" y="2331720"/>
            <a:ext cx="5029200" cy="411480"/>
          </a:xfrm>
          <a:prstGeom prst="rect">
            <a:avLst/>
          </a:prstGeom>
          <a:noFill/>
        </p:spPr>
        <p:txBody>
          <a:bodyPr wrap="square">
            <a:spAutoFit/>
          </a:bodyPr>
          <a:lstStyle/>
          <a:p>
            <a:pPr algn="l"/>
            <a:r>
              <a:rPr sz="1400" b="1" i="0">
                <a:solidFill>
                  <a:srgbClr val="F1F5F9"/>
                </a:solidFill>
                <a:latin typeface="Calibri"/>
              </a:rPr>
              <a:t>📋  Operational Questions</a:t>
            </a:r>
          </a:p>
        </p:txBody>
      </p:sp>
      <p:sp>
        <p:nvSpPr>
          <p:cNvPr id="11" name="TextBox 10"/>
          <p:cNvSpPr txBox="1"/>
          <p:nvPr/>
        </p:nvSpPr>
        <p:spPr>
          <a:xfrm>
            <a:off x="6519672" y="2834640"/>
            <a:ext cx="5029200" cy="1371600"/>
          </a:xfrm>
          <a:prstGeom prst="rect">
            <a:avLst/>
          </a:prstGeom>
          <a:noFill/>
        </p:spPr>
        <p:txBody>
          <a:bodyPr wrap="square">
            <a:spAutoFit/>
          </a:bodyPr>
          <a:lstStyle/>
          <a:p>
            <a:pPr algn="l"/>
            <a:r>
              <a:rPr sz="1100" b="0" i="0">
                <a:solidFill>
                  <a:srgbClr val="94A3B8"/>
                </a:solidFill>
                <a:latin typeface="Calibri"/>
              </a:rPr>
              <a:t>Demo setup, acceptance criteria, timeline, continuation roadmap, and scope decisions.</a:t>
            </a:r>
          </a:p>
        </p:txBody>
      </p:sp>
      <p:sp>
        <p:nvSpPr>
          <p:cNvPr id="12" name="TextBox 11"/>
          <p:cNvSpPr txBox="1"/>
          <p:nvPr/>
        </p:nvSpPr>
        <p:spPr>
          <a:xfrm>
            <a:off x="457200" y="4663440"/>
            <a:ext cx="3657600" cy="256032"/>
          </a:xfrm>
          <a:prstGeom prst="rect">
            <a:avLst/>
          </a:prstGeom>
          <a:noFill/>
        </p:spPr>
        <p:txBody>
          <a:bodyPr wrap="square">
            <a:spAutoFit/>
          </a:bodyPr>
          <a:lstStyle/>
          <a:p>
            <a:pPr algn="l"/>
            <a:r>
              <a:rPr sz="900" b="1" i="0">
                <a:solidFill>
                  <a:srgbClr val="475569"/>
                </a:solidFill>
                <a:latin typeface="Calibri"/>
              </a:rPr>
              <a:t>Reference Documents</a:t>
            </a:r>
          </a:p>
        </p:txBody>
      </p:sp>
      <p:sp>
        <p:nvSpPr>
          <p:cNvPr id="13" name="TextBox 12"/>
          <p:cNvSpPr txBox="1"/>
          <p:nvPr/>
        </p:nvSpPr>
        <p:spPr>
          <a:xfrm>
            <a:off x="457200" y="4892040"/>
            <a:ext cx="4114800" cy="201168"/>
          </a:xfrm>
          <a:prstGeom prst="rect">
            <a:avLst/>
          </a:prstGeom>
          <a:noFill/>
        </p:spPr>
        <p:txBody>
          <a:bodyPr wrap="square">
            <a:spAutoFit/>
          </a:bodyPr>
          <a:lstStyle/>
          <a:p>
            <a:pPr algn="l"/>
            <a:r>
              <a:rPr sz="900" b="0" i="0">
                <a:solidFill>
                  <a:srgbClr val="22C55E"/>
                </a:solidFill>
                <a:latin typeface="Calibri"/>
              </a:rPr>
              <a:t>product/north-star.md</a:t>
            </a:r>
          </a:p>
        </p:txBody>
      </p:sp>
      <p:sp>
        <p:nvSpPr>
          <p:cNvPr id="14" name="TextBox 13"/>
          <p:cNvSpPr txBox="1"/>
          <p:nvPr/>
        </p:nvSpPr>
        <p:spPr>
          <a:xfrm>
            <a:off x="4663440" y="4892040"/>
            <a:ext cx="6858000" cy="201168"/>
          </a:xfrm>
          <a:prstGeom prst="rect">
            <a:avLst/>
          </a:prstGeom>
          <a:noFill/>
        </p:spPr>
        <p:txBody>
          <a:bodyPr wrap="square">
            <a:spAutoFit/>
          </a:bodyPr>
          <a:lstStyle/>
          <a:p>
            <a:pPr algn="l"/>
            <a:r>
              <a:rPr sz="900" b="0" i="0">
                <a:solidFill>
                  <a:srgbClr val="94A3B8"/>
                </a:solidFill>
                <a:latin typeface="Calibri"/>
              </a:rPr>
              <a:t>Product vision &amp; binding constraints</a:t>
            </a:r>
          </a:p>
        </p:txBody>
      </p:sp>
      <p:sp>
        <p:nvSpPr>
          <p:cNvPr id="15" name="TextBox 14"/>
          <p:cNvSpPr txBox="1"/>
          <p:nvPr/>
        </p:nvSpPr>
        <p:spPr>
          <a:xfrm>
            <a:off x="457200" y="5120640"/>
            <a:ext cx="4114800" cy="201168"/>
          </a:xfrm>
          <a:prstGeom prst="rect">
            <a:avLst/>
          </a:prstGeom>
          <a:noFill/>
        </p:spPr>
        <p:txBody>
          <a:bodyPr wrap="square">
            <a:spAutoFit/>
          </a:bodyPr>
          <a:lstStyle/>
          <a:p>
            <a:pPr algn="l"/>
            <a:r>
              <a:rPr sz="900" b="0" i="0">
                <a:solidFill>
                  <a:srgbClr val="22C55E"/>
                </a:solidFill>
                <a:latin typeface="Calibri"/>
              </a:rPr>
              <a:t>product/04_system-architecture.md</a:t>
            </a:r>
          </a:p>
        </p:txBody>
      </p:sp>
      <p:sp>
        <p:nvSpPr>
          <p:cNvPr id="16" name="TextBox 15"/>
          <p:cNvSpPr txBox="1"/>
          <p:nvPr/>
        </p:nvSpPr>
        <p:spPr>
          <a:xfrm>
            <a:off x="4663440" y="5120640"/>
            <a:ext cx="6858000" cy="201168"/>
          </a:xfrm>
          <a:prstGeom prst="rect">
            <a:avLst/>
          </a:prstGeom>
          <a:noFill/>
        </p:spPr>
        <p:txBody>
          <a:bodyPr wrap="square">
            <a:spAutoFit/>
          </a:bodyPr>
          <a:lstStyle/>
          <a:p>
            <a:pPr algn="l"/>
            <a:r>
              <a:rPr sz="900" b="0" i="0">
                <a:solidFill>
                  <a:srgbClr val="94A3B8"/>
                </a:solidFill>
                <a:latin typeface="Calibri"/>
              </a:rPr>
              <a:t>Architecture decisions &amp; continuation notes</a:t>
            </a:r>
          </a:p>
        </p:txBody>
      </p:sp>
      <p:sp>
        <p:nvSpPr>
          <p:cNvPr id="17" name="TextBox 16"/>
          <p:cNvSpPr txBox="1"/>
          <p:nvPr/>
        </p:nvSpPr>
        <p:spPr>
          <a:xfrm>
            <a:off x="457200" y="5349240"/>
            <a:ext cx="4114800" cy="201168"/>
          </a:xfrm>
          <a:prstGeom prst="rect">
            <a:avLst/>
          </a:prstGeom>
          <a:noFill/>
        </p:spPr>
        <p:txBody>
          <a:bodyPr wrap="square">
            <a:spAutoFit/>
          </a:bodyPr>
          <a:lstStyle/>
          <a:p>
            <a:pPr algn="l"/>
            <a:r>
              <a:rPr sz="900" b="0" i="0">
                <a:solidFill>
                  <a:srgbClr val="22C55E"/>
                </a:solidFill>
                <a:latin typeface="Calibri"/>
              </a:rPr>
              <a:t>product/03_mvp-spec.md</a:t>
            </a:r>
          </a:p>
        </p:txBody>
      </p:sp>
      <p:sp>
        <p:nvSpPr>
          <p:cNvPr id="18" name="TextBox 17"/>
          <p:cNvSpPr txBox="1"/>
          <p:nvPr/>
        </p:nvSpPr>
        <p:spPr>
          <a:xfrm>
            <a:off x="4663440" y="5349240"/>
            <a:ext cx="6858000" cy="201168"/>
          </a:xfrm>
          <a:prstGeom prst="rect">
            <a:avLst/>
          </a:prstGeom>
          <a:noFill/>
        </p:spPr>
        <p:txBody>
          <a:bodyPr wrap="square">
            <a:spAutoFit/>
          </a:bodyPr>
          <a:lstStyle/>
          <a:p>
            <a:pPr algn="l"/>
            <a:r>
              <a:rPr sz="900" b="0" i="0">
                <a:solidFill>
                  <a:srgbClr val="94A3B8"/>
                </a:solidFill>
                <a:latin typeface="Calibri"/>
              </a:rPr>
              <a:t>Full MVP acceptance criteria &amp; demo script</a:t>
            </a:r>
          </a:p>
        </p:txBody>
      </p:sp>
      <p:sp>
        <p:nvSpPr>
          <p:cNvPr id="19" name="TextBox 18"/>
          <p:cNvSpPr txBox="1"/>
          <p:nvPr/>
        </p:nvSpPr>
        <p:spPr>
          <a:xfrm>
            <a:off x="0" y="6309360"/>
            <a:ext cx="12191695" cy="320040"/>
          </a:xfrm>
          <a:prstGeom prst="rect">
            <a:avLst/>
          </a:prstGeom>
          <a:noFill/>
        </p:spPr>
        <p:txBody>
          <a:bodyPr wrap="square">
            <a:spAutoFit/>
          </a:bodyPr>
          <a:lstStyle/>
          <a:p>
            <a:pPr algn="ctr"/>
            <a:r>
              <a:rPr sz="900" b="0" i="0">
                <a:solidFill>
                  <a:srgbClr val="475569"/>
                </a:solidFill>
                <a:latin typeface="Calibri"/>
              </a:rPr>
              <a:t>DK-01 · Version 1.0 · 2026-03-11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2401</Words>
  <Application>Microsoft Macintosh PowerPoint</Application>
  <PresentationFormat>מסך רחב</PresentationFormat>
  <Paragraphs>251</Paragraphs>
  <Slides>13</Slides>
  <Notes>13</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13</vt:i4>
      </vt:variant>
    </vt:vector>
  </HeadingPairs>
  <TitlesOfParts>
    <vt:vector size="17" baseType="lpstr">
      <vt:lpstr>Aptos</vt:lpstr>
      <vt:lpstr>Arial</vt:lpstr>
      <vt:lpstr>Calibri</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טל אפשטיין</cp:lastModifiedBy>
  <cp:revision>1</cp:revision>
  <dcterms:created xsi:type="dcterms:W3CDTF">2013-01-27T09:14:16Z</dcterms:created>
  <dcterms:modified xsi:type="dcterms:W3CDTF">2026-03-19T19:03:56Z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01b9bfc-c426-492e-a46c-1a922d5fe54b_Enabled">
    <vt:lpwstr>true</vt:lpwstr>
  </property>
  <property fmtid="{D5CDD505-2E9C-101B-9397-08002B2CF9AE}" pid="3" name="MSIP_Label_701b9bfc-c426-492e-a46c-1a922d5fe54b_SetDate">
    <vt:lpwstr>2026-03-19T19:03:46Z</vt:lpwstr>
  </property>
  <property fmtid="{D5CDD505-2E9C-101B-9397-08002B2CF9AE}" pid="4" name="MSIP_Label_701b9bfc-c426-492e-a46c-1a922d5fe54b_Method">
    <vt:lpwstr>Privileged</vt:lpwstr>
  </property>
  <property fmtid="{D5CDD505-2E9C-101B-9397-08002B2CF9AE}" pid="5" name="MSIP_Label_701b9bfc-c426-492e-a46c-1a922d5fe54b_Name">
    <vt:lpwstr>בלמ"ס</vt:lpwstr>
  </property>
  <property fmtid="{D5CDD505-2E9C-101B-9397-08002B2CF9AE}" pid="6" name="MSIP_Label_701b9bfc-c426-492e-a46c-1a922d5fe54b_SiteId">
    <vt:lpwstr>78820852-55fa-450b-908d-45c0d911e76b</vt:lpwstr>
  </property>
  <property fmtid="{D5CDD505-2E9C-101B-9397-08002B2CF9AE}" pid="7" name="MSIP_Label_701b9bfc-c426-492e-a46c-1a922d5fe54b_ActionId">
    <vt:lpwstr>c64fac34-e939-4e44-b0f7-7a6dcfdcbb6c</vt:lpwstr>
  </property>
  <property fmtid="{D5CDD505-2E9C-101B-9397-08002B2CF9AE}" pid="8" name="MSIP_Label_701b9bfc-c426-492e-a46c-1a922d5fe54b_ContentBits">
    <vt:lpwstr>1</vt:lpwstr>
  </property>
  <property fmtid="{D5CDD505-2E9C-101B-9397-08002B2CF9AE}" pid="9" name="MSIP_Label_701b9bfc-c426-492e-a46c-1a922d5fe54b_Tag">
    <vt:lpwstr>50, 0, 1, 1</vt:lpwstr>
  </property>
  <property fmtid="{D5CDD505-2E9C-101B-9397-08002B2CF9AE}" pid="10" name="ClassificationContentMarkingHeaderLocations">
    <vt:lpwstr>Office Theme:8</vt:lpwstr>
  </property>
  <property fmtid="{D5CDD505-2E9C-101B-9397-08002B2CF9AE}" pid="11" name="ClassificationContentMarkingHeaderText">
    <vt:lpwstr>- בלמ"ס -</vt:lpwstr>
  </property>
</Properties>
</file>